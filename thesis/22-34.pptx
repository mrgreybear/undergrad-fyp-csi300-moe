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1.svg" ContentType="image/svg+xml"/>
  <Override PartName="/ppt/media/image13.svg" ContentType="image/svg+xml"/>
  <Override PartName="/ppt/media/image15.svg" ContentType="image/svg+xml"/>
  <Override PartName="/ppt/media/image28.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91" r:id="rId3"/>
    <p:sldId id="305" r:id="rId5"/>
    <p:sldId id="306" r:id="rId6"/>
    <p:sldId id="293" r:id="rId7"/>
    <p:sldId id="294" r:id="rId8"/>
    <p:sldId id="296" r:id="rId9"/>
    <p:sldId id="295" r:id="rId10"/>
    <p:sldId id="298" r:id="rId11"/>
    <p:sldId id="299" r:id="rId12"/>
    <p:sldId id="300" r:id="rId13"/>
    <p:sldId id="301" r:id="rId14"/>
    <p:sldId id="302" r:id="rId15"/>
    <p:sldId id="307" r:id="rId16"/>
    <p:sldId id="292" r:id="rId17"/>
  </p:sldIdLst>
  <p:sldSz cx="12192000" cy="6858000"/>
  <p:notesSz cx="6858000" cy="9144000"/>
  <p:embeddedFontLst>
    <p:embeddedFont>
      <p:font typeface="Noto Sans SC" panose="020B0200000000000000" charset="-122"/>
      <p:regular r:id="rId21"/>
    </p:embeddedFont>
    <p:embeddedFont>
      <p:font typeface="Noto Sans SC Black" panose="020B0200000000000000" charset="-122"/>
      <p:bold r:id="rId22"/>
    </p:embeddedFont>
    <p:embeddedFont>
      <p:font typeface="Noto Sans SC Medium" panose="020B0200000000000000" charset="-122"/>
      <p:regular r:id="rId23"/>
    </p:embeddedFont>
    <p:embeddedFont>
      <p:font typeface="Noto Sans SC DemiLight" panose="020B0200000000000000" charset="-122"/>
      <p:regular r:id="rId24"/>
    </p:embeddedFont>
    <p:embeddedFont>
      <p:font typeface="Noto Sans SC Light" panose="020B0200000000000000" charset="-122"/>
      <p:regular r:id="rId25"/>
    </p:embeddedFont>
    <p:embeddedFont>
      <p:font typeface="Berlin Sans FB" panose="020E0602020502020306" charset="0"/>
      <p:regular r:id="rId26"/>
      <p:bold r:id="rId27"/>
    </p:embeddedFont>
    <p:embeddedFont>
      <p:font typeface="等线 Light" panose="02010600030101010101" charset="-122"/>
      <p:regular r:id="rId28"/>
    </p:embeddedFont>
    <p:embeddedFont>
      <p:font typeface="等线" panose="02010600030101010101" charset="-122"/>
      <p:regular r:id="rId29"/>
    </p:embeddedFont>
  </p:embeddedFontLst>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8F6"/>
    <a:srgbClr val="AE5952"/>
    <a:srgbClr val="11598B"/>
    <a:srgbClr val="F3F2EE"/>
    <a:srgbClr val="900B1E"/>
    <a:srgbClr val="F7F8F4"/>
    <a:srgbClr val="FFFFFF"/>
    <a:srgbClr val="002447"/>
    <a:srgbClr val="6B717D"/>
    <a:srgbClr val="F7F7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87" autoAdjust="0"/>
    <p:restoredTop sz="94721" autoAdjust="0"/>
  </p:normalViewPr>
  <p:slideViewPr>
    <p:cSldViewPr snapToGrid="0">
      <p:cViewPr varScale="1">
        <p:scale>
          <a:sx n="96" d="100"/>
          <a:sy n="96" d="100"/>
        </p:scale>
        <p:origin x="102" y="10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26.xml"/><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865098784803079"/>
          <c:y val="0.0302344379798612"/>
          <c:w val="0.897272415323598"/>
          <c:h val="0.851816501671117"/>
        </c:manualLayout>
      </c:layout>
      <c:barChart>
        <c:barDir val="col"/>
        <c:grouping val="clustered"/>
        <c:varyColors val="0"/>
        <c:ser>
          <c:idx val="0"/>
          <c:order val="0"/>
          <c:tx>
            <c:strRef>
              <c:f>Sheet1!$B$1</c:f>
              <c:strCache>
                <c:ptCount val="1"/>
                <c:pt idx="0">
                  <c:v>MoE</c:v>
                </c:pt>
              </c:strCache>
            </c:strRef>
          </c:tx>
          <c:spPr>
            <a:solidFill>
              <a:srgbClr val="4472C4"/>
            </a:solidFill>
            <a:effectLst/>
          </c:spPr>
          <c:invertIfNegative val="0"/>
          <c:dLbls>
            <c:dLbl>
              <c:idx val="0"/>
              <c:delete val="1"/>
            </c:dLbl>
            <c:dLbl>
              <c:idx val="1"/>
              <c:delete val="1"/>
            </c:dLbl>
            <c:dLbl>
              <c:idx val="2"/>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Total Return</c:v>
                </c:pt>
                <c:pt idx="1">
                  <c:v>Sharpe Ratio</c:v>
                </c:pt>
                <c:pt idx="2">
                  <c:v>Max Drawdown</c:v>
                </c:pt>
              </c:strCache>
            </c:strRef>
          </c:cat>
          <c:val>
            <c:numRef>
              <c:f>Sheet1!$B$2:$B$4</c:f>
              <c:numCache>
                <c:formatCode>General</c:formatCode>
                <c:ptCount val="3"/>
                <c:pt idx="0">
                  <c:v>-3.27</c:v>
                </c:pt>
                <c:pt idx="1">
                  <c:v>-0.2073</c:v>
                </c:pt>
                <c:pt idx="2">
                  <c:v>-27.72</c:v>
                </c:pt>
              </c:numCache>
            </c:numRef>
          </c:val>
        </c:ser>
        <c:ser>
          <c:idx val="1"/>
          <c:order val="1"/>
          <c:tx>
            <c:strRef>
              <c:f>Sheet1!$C$1</c:f>
              <c:strCache>
                <c:ptCount val="1"/>
                <c:pt idx="0">
                  <c:v>Buy &amp; Hold</c:v>
                </c:pt>
              </c:strCache>
            </c:strRef>
          </c:tx>
          <c:spPr>
            <a:solidFill>
              <a:srgbClr val="ED7D31"/>
            </a:solidFill>
            <a:effectLst/>
          </c:spPr>
          <c:invertIfNegative val="0"/>
          <c:dLbls>
            <c:dLbl>
              <c:idx val="0"/>
              <c:delete val="1"/>
            </c:dLbl>
            <c:dLbl>
              <c:idx val="1"/>
              <c:delete val="1"/>
            </c:dLbl>
            <c:dLbl>
              <c:idx val="2"/>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Total Return</c:v>
                </c:pt>
                <c:pt idx="1">
                  <c:v>Sharpe Ratio</c:v>
                </c:pt>
                <c:pt idx="2">
                  <c:v>Max Drawdown</c:v>
                </c:pt>
              </c:strCache>
            </c:strRef>
          </c:cat>
          <c:val>
            <c:numRef>
              <c:f>Sheet1!$C$2:$C$4</c:f>
              <c:numCache>
                <c:formatCode>General</c:formatCode>
                <c:ptCount val="3"/>
                <c:pt idx="0">
                  <c:v>-25.68</c:v>
                </c:pt>
                <c:pt idx="1">
                  <c:v>-3.7192</c:v>
                </c:pt>
                <c:pt idx="2">
                  <c:v>-32.66</c:v>
                </c:pt>
              </c:numCache>
            </c:numRef>
          </c:val>
        </c:ser>
        <c:dLbls>
          <c:showLegendKey val="0"/>
          <c:showVal val="0"/>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000000"/>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0"/>
          <c:min val="-35"/>
        </c:scaling>
        <c:delete val="0"/>
        <c:axPos val="l"/>
        <c:majorGridlines>
          <c:spPr>
            <a:ln w="12700" cap="flat" cmpd="sng" algn="ctr">
              <a:solidFill>
                <a:srgbClr val="888888"/>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000000"/>
                </a:solidFill>
                <a:latin typeface="Arial" panose="020B0604020202020204"/>
                <a:ea typeface="+mn-ea"/>
                <a:cs typeface="+mn-cs"/>
              </a:defRPr>
            </a:pPr>
          </a:p>
        </c:txPr>
        <c:crossAx val="2094734554"/>
        <c:crosses val="autoZero"/>
        <c:crossBetween val="between"/>
        <c:majorUnit val="5"/>
      </c:valAx>
      <c:spPr>
        <a:noFill/>
        <a:ln>
          <a:noFill/>
        </a:ln>
        <a:effectLst/>
      </c:spPr>
    </c:plotArea>
    <c:plotVisOnly val="1"/>
    <c:dispBlanksAs val="span"/>
    <c:showDLblsOverMax val="0"/>
    <c:extLst>
      <c:ext uri="{0b15fc19-7d7d-44ad-8c2d-2c3a37ce22c3}">
        <chartProps xmlns="https://web.wps.cn/et/2018/main" chartId="{ab9d45f5-58e2-46ca-b78a-894d36af3732}"/>
      </c:ext>
    </c:extLst>
  </c:chart>
  <c:spPr>
    <a:noFill/>
    <a:ln>
      <a:noFill/>
    </a:ln>
    <a:effectLst/>
  </c:spPr>
  <c:txPr>
    <a:bodyPr/>
    <a:lstStyle/>
    <a:p>
      <a:pPr>
        <a:defRPr lang="zh-CN"/>
      </a:pPr>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AC14565-88C4-4C89-97D4-60CA2FC21985}"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zh-CN" altLang="en-US"/>
        </a:p>
      </dgm:t>
    </dgm:pt>
    <dgm:pt modelId="{91655FB6-A30B-4758-9D2A-82DF99A6114A}" type="pres">
      <dgm:prSet presAssocID="{EAC14565-88C4-4C89-97D4-60CA2FC21985}" presName="Name0" presStyleCnt="0">
        <dgm:presLayoutVars>
          <dgm:chMax val="7"/>
          <dgm:resizeHandles val="exact"/>
        </dgm:presLayoutVars>
      </dgm:prSet>
      <dgm:spPr/>
      <dgm:t>
        <a:bodyPr/>
        <a:lstStyle/>
        <a:p>
          <a:endParaRPr lang="zh-CN" altLang="en-US"/>
        </a:p>
      </dgm:t>
    </dgm:pt>
  </dgm:ptLst>
  <dgm:cxnLst>
    <dgm:cxn modelId="{20ED29AB-34D1-4E79-A563-6AEADD894AEF}" type="presOf" srcId="{EAC14565-88C4-4C89-97D4-60CA2FC21985}" destId="{91655FB6-A30B-4758-9D2A-82DF99A6114A}" srcOrd="0"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418667" cy="5418667"/>
        <a:chOff x="0" y="0"/>
        <a:chExt cx="5418667" cy="5418667"/>
      </a:xfrm>
    </dsp:grpSpPr>
    <dsp:sp modelId="{F914E96B-E03B-4B46-B7AC-B5801FB1DC1C}">
      <dsp:nvSpPr>
        <dsp:cNvPr id="3" name="椭圆 2"/>
        <dsp:cNvSpPr/>
      </dsp:nvSpPr>
      <dsp:spPr bwMode="white">
        <a:xfrm>
          <a:off x="1354666" y="0"/>
          <a:ext cx="5418667" cy="5418667"/>
        </a:xfrm>
        <a:prstGeom prst="ellipse">
          <a:avLst/>
        </a:prstGeom>
        <a:solidFill>
          <a:schemeClr val="bg1">
            <a:lumMod val="85000"/>
          </a:schemeClr>
        </a:solidFill>
        <a:ln>
          <a:noFill/>
        </a:ln>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113792" tIns="113792" rIns="113792" bIns="113792"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ltLang="en-US" b="1" dirty="0">
              <a:solidFill>
                <a:schemeClr val="tx1">
                  <a:lumMod val="65000"/>
                  <a:lumOff val="35000"/>
                </a:schemeClr>
              </a:solidFill>
            </a:rPr>
            <a:t>Click here to enter content</a:t>
          </a:r>
          <a:endParaRPr lang="zh-CN" altLang="en-US" b="1" dirty="0">
            <a:solidFill>
              <a:schemeClr val="tx1">
                <a:lumMod val="65000"/>
                <a:lumOff val="35000"/>
              </a:schemeClr>
            </a:solidFill>
          </a:endParaRPr>
        </a:p>
      </dsp:txBody>
      <dsp:txXfrm>
        <a:off x="1354666" y="0"/>
        <a:ext cx="5418667" cy="5418667"/>
      </dsp:txXfrm>
    </dsp:sp>
    <dsp:sp modelId="{A434AD9A-149D-4FC8-BA43-36C31E517F68}">
      <dsp:nvSpPr>
        <dsp:cNvPr id="4" name="椭圆 3"/>
        <dsp:cNvSpPr/>
      </dsp:nvSpPr>
      <dsp:spPr bwMode="white">
        <a:xfrm>
          <a:off x="1896533" y="1083733"/>
          <a:ext cx="4334934" cy="4334934"/>
        </a:xfrm>
        <a:prstGeom prst="ellipse">
          <a:avLst/>
        </a:prstGeom>
        <a:solidFill>
          <a:schemeClr val="bg1">
            <a:lumMod val="75000"/>
          </a:schemeClr>
        </a:solidFill>
        <a:ln>
          <a:noFill/>
        </a:ln>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113792" tIns="113792" rIns="113792" bIns="113792"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ltLang="en-US" b="1" dirty="0">
              <a:solidFill>
                <a:schemeClr val="tx1">
                  <a:lumMod val="75000"/>
                  <a:lumOff val="25000"/>
                </a:schemeClr>
              </a:solidFill>
            </a:rPr>
            <a:t>Click here to enter content</a:t>
          </a:r>
          <a:endParaRPr lang="zh-CN" altLang="en-US" b="1" dirty="0">
            <a:solidFill>
              <a:schemeClr val="tx1">
                <a:lumMod val="75000"/>
                <a:lumOff val="25000"/>
              </a:schemeClr>
            </a:solidFill>
          </a:endParaRPr>
        </a:p>
      </dsp:txBody>
      <dsp:txXfrm>
        <a:off x="1896533" y="1083733"/>
        <a:ext cx="4334934" cy="4334934"/>
      </dsp:txXfrm>
    </dsp:sp>
    <dsp:sp modelId="{CCF3B939-93C9-440F-A55A-05CBF2199491}">
      <dsp:nvSpPr>
        <dsp:cNvPr id="5" name="椭圆 4"/>
        <dsp:cNvSpPr/>
      </dsp:nvSpPr>
      <dsp:spPr bwMode="white">
        <a:xfrm>
          <a:off x="2438400" y="2167467"/>
          <a:ext cx="3251200" cy="3251200"/>
        </a:xfrm>
        <a:prstGeom prst="ellipse">
          <a:avLst/>
        </a:prstGeom>
        <a:solidFill>
          <a:schemeClr val="bg1">
            <a:lumMod val="65000"/>
          </a:schemeClr>
        </a:solidFill>
        <a:ln>
          <a:noFill/>
        </a:ln>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113792" tIns="113792" rIns="113792" bIns="113792"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ltLang="en-US" b="1" dirty="0">
              <a:solidFill>
                <a:schemeClr val="tx1">
                  <a:lumMod val="85000"/>
                  <a:lumOff val="15000"/>
                </a:schemeClr>
              </a:solidFill>
            </a:rPr>
            <a:t>Click here to enter content</a:t>
          </a:r>
          <a:endParaRPr lang="zh-CN" altLang="en-US" b="1" dirty="0">
            <a:solidFill>
              <a:schemeClr val="tx1">
                <a:lumMod val="85000"/>
                <a:lumOff val="15000"/>
              </a:schemeClr>
            </a:solidFill>
          </a:endParaRPr>
        </a:p>
      </dsp:txBody>
      <dsp:txXfrm>
        <a:off x="2438400" y="2167467"/>
        <a:ext cx="3251200" cy="3251200"/>
      </dsp:txXfrm>
    </dsp:sp>
    <dsp:sp modelId="{5D70E3E0-A383-4B51-910E-CDBAFC6D4475}">
      <dsp:nvSpPr>
        <dsp:cNvPr id="6" name="椭圆 5"/>
        <dsp:cNvSpPr/>
      </dsp:nvSpPr>
      <dsp:spPr bwMode="white">
        <a:xfrm>
          <a:off x="2980267" y="3251200"/>
          <a:ext cx="2167467" cy="2167467"/>
        </a:xfrm>
        <a:prstGeom prst="ellipse">
          <a:avLst/>
        </a:prstGeom>
        <a:solidFill>
          <a:schemeClr val="bg1">
            <a:lumMod val="50000"/>
          </a:schemeClr>
        </a:solidFill>
        <a:ln>
          <a:noFill/>
        </a:ln>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113792" tIns="113792" rIns="113792" bIns="113792"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ltLang="en-US" b="1" dirty="0">
              <a:solidFill>
                <a:schemeClr val="tx1"/>
              </a:solidFill>
            </a:rPr>
            <a:t>Click here to enter content</a:t>
          </a:r>
          <a:endParaRPr lang="zh-CN" altLang="en-US" b="1" dirty="0">
            <a:solidFill>
              <a:schemeClr val="tx1"/>
            </a:solidFill>
          </a:endParaRPr>
        </a:p>
      </dsp:txBody>
      <dsp:txXfrm>
        <a:off x="2980267" y="3251200"/>
        <a:ext cx="2167467" cy="2167467"/>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67D85D-2DA0-450F-8C57-0C0BA857436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6072C5-ACA1-4A1D-98CB-00ADA1A0E26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Thanks. So far, we have discussed the model's architecture and its superior prediction error on the standard test set.</a:t>
            </a:r>
            <a:endParaRPr lang="en-US" altLang="zh-CN"/>
          </a:p>
          <a:p>
            <a:r>
              <a:rPr lang="en-US" altLang="zh-CN"/>
              <a:t>However, as Financial Mathematics students, we know that a low RMSE doesn't automatically translate to a robust investment strategy.</a:t>
            </a:r>
            <a:endParaRPr lang="en-US" altLang="zh-CN"/>
          </a:p>
          <a:p>
            <a:r>
              <a:rPr lang="en-US" altLang="zh-CN"/>
              <a:t>In this section, I will address two critical questions that determine the real-world viability of our project:</a:t>
            </a:r>
            <a:endParaRPr lang="en-US" altLang="zh-CN"/>
          </a:p>
          <a:p>
            <a:r>
              <a:rPr lang="en-US" altLang="zh-CN"/>
              <a:t>First, is the model's performance stable across different time periods and asset classes?</a:t>
            </a:r>
            <a:endParaRPr lang="en-US" altLang="zh-CN"/>
          </a:p>
          <a:p>
            <a:r>
              <a:rPr lang="en-US" altLang="zh-CN"/>
              <a:t>Second, and perhaps more importantly, can it survive the friction of high-frequency execution?"</a:t>
            </a:r>
            <a:endParaRPr lang="en-US" altLang="zh-CN"/>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altLang="zh-CN" dirty="0"/>
              <a:t>Let's start with stability. A common pitfall in financial AI is 'overfitting to a specific bull run'. To avoid this, we strictly implemented a Rolling Window Cross-Validation spanning from 2021 to 2025.</a:t>
            </a:r>
            <a:endParaRPr lang="en-US" altLang="zh-CN" dirty="0"/>
          </a:p>
          <a:p>
            <a:r>
              <a:rPr lang="en-US" altLang="zh-CN" dirty="0"/>
              <a:t>Instead of one static test, we constantly retrained the model as time moved forward.</a:t>
            </a:r>
            <a:endParaRPr lang="en-US" altLang="zh-CN" dirty="0"/>
          </a:p>
          <a:p>
            <a:r>
              <a:rPr lang="en-US" altLang="zh-CN" dirty="0"/>
              <a:t>We can see the distribution of our Directional Accuracy approximates centered between 60% and 64%.</a:t>
            </a:r>
            <a:endParaRPr lang="en-US" altLang="zh-CN" dirty="0"/>
          </a:p>
          <a:p>
            <a:r>
              <a:rPr lang="en-US" altLang="zh-CN" dirty="0"/>
              <a:t>Crucially, almost every single fold outperforms the 50% random baseline. This proves that our model captures genuine market dynamics, not just lucky noise.</a:t>
            </a:r>
            <a:endParaRPr lang="en-US" altLang="zh-CN" dirty="0"/>
          </a:p>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altLang="zh-CN" dirty="0"/>
              <a:t>But we went a step further. We asked: Can this architecture work on an asset it wasn't originally designed for? We tested it on Bitcoin.</a:t>
            </a:r>
            <a:endParaRPr lang="en-US" altLang="zh-CN" dirty="0"/>
          </a:p>
          <a:p>
            <a:r>
              <a:rPr lang="en-US" altLang="zh-CN" dirty="0"/>
              <a:t>As you know, Bitcoin is highly volatile and behaves very differently from the CSI 300 index.</a:t>
            </a:r>
            <a:endParaRPr lang="en-US" altLang="zh-CN" dirty="0"/>
          </a:p>
          <a:p>
            <a:r>
              <a:rPr lang="en-US" altLang="zh-CN" dirty="0"/>
              <a:t>The results in the table are revealing. </a:t>
            </a:r>
            <a:endParaRPr lang="en-US" altLang="zh-CN" dirty="0"/>
          </a:p>
          <a:p>
            <a:r>
              <a:rPr lang="en-US" altLang="zh-CN" dirty="0"/>
              <a:t>Why? Because our heterogeneous experts—specifically the Volatility Expert—successfully identified the high-risk regime and signaled to reduce exposure. This confirms our semantic features are universal, not asset-specific.</a:t>
            </a:r>
            <a:endParaRPr lang="en-US" altLang="zh-CN" dirty="0"/>
          </a:p>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Now, let's move on, the bridge between theory and practice.</a:t>
            </a:r>
            <a:endParaRPr lang="en-US" altLang="zh-CN"/>
          </a:p>
          <a:p>
            <a:r>
              <a:rPr lang="en-US" altLang="zh-CN"/>
              <a:t>We identified a phenomenon we call: 'Predictively Strong but Operationally Fragile'.</a:t>
            </a:r>
            <a:endParaRPr lang="en-US" altLang="zh-CN"/>
          </a:p>
          <a:p>
            <a:r>
              <a:rPr lang="en-US" altLang="zh-CN"/>
              <a:t>Academic papers often stop at RMSE. But in the industry, execution is everything.</a:t>
            </a:r>
            <a:endParaRPr lang="en-US" altLang="zh-CN"/>
          </a:p>
          <a:p>
            <a:r>
              <a:rPr lang="en-US" altLang="zh-CN"/>
              <a:t>Please compare the two charts. On the left, daily data looks smooth. But on the right, high-frequency 5-minute data reveals the ugly truth: microstructure noise, liquidity gaps, and rapid reversals.</a:t>
            </a:r>
            <a:endParaRPr lang="en-US" altLang="zh-CN"/>
          </a:p>
          <a:p>
            <a:r>
              <a:rPr lang="en-US" altLang="zh-CN"/>
              <a:t>We term this the 'Daily Illusion'.</a:t>
            </a:r>
            <a:endParaRPr lang="en-US" altLang="zh-CN"/>
          </a:p>
          <a:p>
            <a:r>
              <a:rPr lang="en-US" altLang="zh-CN"/>
              <a:t>Models trained on daily data often fail intraday because they underestimate transaction costs and turnover.</a:t>
            </a:r>
            <a:endParaRPr lang="en-US" altLang="zh-CN"/>
          </a:p>
          <a:p>
            <a:r>
              <a:rPr lang="en-US" altLang="zh-CN"/>
              <a:t>If we simply trade on every signal, the transaction costs will eat up all the alpha.</a:t>
            </a:r>
            <a:endParaRPr lang="en-US" altLang="zh-CN"/>
          </a:p>
          <a:p>
            <a:r>
              <a:rPr lang="en-US" altLang="zh-CN"/>
              <a:t>So, the core challenge of this Chapter  is: How do we filter out the 'noise trades' and keep only the 'quality trades'?"</a:t>
            </a:r>
            <a:r>
              <a:rPr lang="en-US" altLang="en-US"/>
              <a:t> </a:t>
            </a:r>
            <a:endParaRPr lang="en-US" altLang="en-US"/>
          </a:p>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rigorously test this, standard daily data wasn't enough.</a:t>
            </a:r>
            <a:endParaRPr lang="en-US" altLang="zh-CN"/>
          </a:p>
          <a:p>
            <a:r>
              <a:rPr lang="en-US" altLang="zh-CN"/>
              <a:t>We utilized the Wind Database to acquire high-fidelity 5-minute level data.</a:t>
            </a:r>
            <a:endParaRPr lang="en-US" altLang="zh-CN"/>
          </a:p>
          <a:p>
            <a:r>
              <a:rPr lang="en-US" altLang="zh-CN"/>
              <a:t>This scaled our validation set from hundreds of points to over 194,000 data points.</a:t>
            </a:r>
            <a:endParaRPr lang="en-US" altLang="zh-CN"/>
          </a:p>
          <a:p>
            <a:r>
              <a:rPr lang="en-US" altLang="zh-CN"/>
              <a:t>This massive dataset ensures that our execution logic is statistically significant and not just a fluke.</a:t>
            </a:r>
            <a:endParaRPr lang="en-US" altLang="zh-CN"/>
          </a:p>
          <a:p>
            <a:endParaRPr lang="en-US" altLang="zh-CN"/>
          </a:p>
          <a:p>
            <a:r>
              <a:rPr lang="en-US" altLang="zh-CN"/>
              <a:t>Financial data has 'Fat Tails'</a:t>
            </a:r>
            <a:endParaRPr lang="en-US" altLang="zh-CN"/>
          </a:p>
          <a:p>
            <a:r>
              <a:rPr lang="en-US" altLang="zh-CN"/>
              <a:t>A standard LSTM is too slow to react to these shocks.</a:t>
            </a:r>
            <a:endParaRPr lang="en-US" altLang="zh-CN"/>
          </a:p>
          <a:p>
            <a:r>
              <a:rPr lang="en-US" altLang="zh-CN"/>
              <a:t>But our model has a dedicated Volatility Expert (a 1D-CNN). Its sole job is to detect these local spikes and sudden crashes.</a:t>
            </a:r>
            <a:endParaRPr lang="en-US" altLang="zh-CN"/>
          </a:p>
          <a:p>
            <a:r>
              <a:rPr lang="en-US" altLang="zh-CN"/>
              <a:t>As we will see, this expert becomes our 'Risk Sensor'.</a:t>
            </a:r>
            <a:endParaRPr lang="en-US" altLang="zh-CN"/>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Before we applied our solution, we ran a diagnostic test.</a:t>
            </a:r>
            <a:endParaRPr lang="en-US" altLang="zh-CN"/>
          </a:p>
          <a:p>
            <a:r>
              <a:rPr lang="en-US" altLang="zh-CN"/>
              <a:t>Look at the top-left chart: our Directional Accuracy is consistently above 50%. Theoretically, we should be profitable.</a:t>
            </a:r>
            <a:endParaRPr lang="en-US" altLang="zh-CN"/>
          </a:p>
          <a:p>
            <a:r>
              <a:rPr lang="en-US" altLang="zh-CN"/>
              <a:t>But look at the top-right: the Net Returns may sometimes around zero, sometimes negative.</a:t>
            </a:r>
            <a:endParaRPr lang="en-US" altLang="zh-CN"/>
          </a:p>
          <a:p>
            <a:r>
              <a:rPr lang="en-US" altLang="zh-CN"/>
              <a:t>And we can see The Turnover Rate is too high. The model is over-trading in uncertain regimes. It's working hard, but not working smart."</a:t>
            </a:r>
            <a:endParaRPr lang="en-US" altLang="zh-CN"/>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solve this, we introduced a hierarchical execution logic.</a:t>
            </a:r>
            <a:endParaRPr lang="en-US" altLang="zh-CN"/>
          </a:p>
          <a:p>
            <a:r>
              <a:rPr lang="en-US" altLang="zh-CN"/>
              <a:t>The position is determined by three components: Signal, Trend, and Confidence.</a:t>
            </a:r>
            <a:endParaRPr lang="en-US" altLang="zh-CN"/>
          </a:p>
          <a:p>
            <a:r>
              <a:rPr lang="en-US" altLang="zh-CN"/>
              <a:t>The first two are standard: trade only when the signal is strong and aligned with the trend.</a:t>
            </a:r>
            <a:endParaRPr lang="en-US" altLang="zh-CN"/>
          </a:p>
          <a:p>
            <a:r>
              <a:rPr lang="en-US" altLang="zh-CN"/>
              <a:t>But the Confidence Gate is our key innovation.</a:t>
            </a:r>
            <a:endParaRPr lang="en-US" altLang="zh-CN"/>
          </a:p>
          <a:p>
            <a:r>
              <a:rPr lang="en-US" altLang="zh-CN"/>
              <a:t>Instead of using an external risk model, we use the internal attention weights of the MoE.</a:t>
            </a:r>
            <a:endParaRPr lang="en-US" altLang="zh-CN"/>
          </a:p>
          <a:p>
            <a:r>
              <a:rPr lang="en-US" altLang="zh-CN"/>
              <a:t>When the Gating Network assigns a high weight to the Volatility Expert (CNN), it implies the market is in a 'Panic State'.</a:t>
            </a:r>
            <a:endParaRPr lang="en-US" altLang="zh-CN"/>
          </a:p>
          <a:p>
            <a:r>
              <a:rPr lang="en-US" altLang="zh-CN"/>
              <a:t>In this scenario, the Confidence Gate overrides the buy signal and forces the strategy to stay in Cash, avoiding the storm."</a:t>
            </a:r>
            <a:endParaRPr lang="en-US" altLang="zh-CN"/>
          </a:p>
          <a:p>
            <a:endParaRPr lang="en-US" altLang="zh-CN"/>
          </a:p>
          <a:p>
            <a:r>
              <a:rPr lang="en-US" altLang="zh-CN">
                <a:sym typeface="+mn-ea"/>
              </a:rPr>
              <a:t>You can see this mechanism visually in this heatmap.</a:t>
            </a:r>
            <a:endParaRPr lang="en-US" altLang="zh-CN"/>
          </a:p>
          <a:p>
            <a:r>
              <a:rPr lang="en-US" altLang="zh-CN">
                <a:sym typeface="+mn-ea"/>
              </a:rPr>
              <a:t>The colors represent the active expert. Notice how the model dynamically shifts between the Trend Expert (in blue) and the Volatility Expert (in yellow/green) as market conditions change.</a:t>
            </a:r>
            <a:endParaRPr lang="en-US" altLang="zh-CN"/>
          </a:p>
          <a:p>
            <a:r>
              <a:rPr lang="en-US" altLang="zh-CN">
                <a:sym typeface="+mn-ea"/>
              </a:rPr>
              <a:t>This proves the model isn't a black box—it is explicitly reacting to changing risk levels.</a:t>
            </a:r>
            <a:endParaRPr lang="en-US" altLang="zh-CN"/>
          </a:p>
          <a:p>
            <a:endParaRPr lang="en-US" altLang="zh-CN"/>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The results validate this approach.</a:t>
            </a:r>
            <a:endParaRPr lang="en-US" altLang="zh-CN"/>
          </a:p>
          <a:p>
            <a:r>
              <a:rPr lang="en-US" altLang="zh-CN">
                <a:sym typeface="+mn-ea"/>
              </a:rPr>
              <a:t>By activating the Confidence Gate, we achieved a higher Net Return of 1.66% compared to the Baseline's 1.59%.</a:t>
            </a:r>
            <a:endParaRPr lang="en-US" altLang="zh-CN"/>
          </a:p>
          <a:p>
            <a:r>
              <a:rPr lang="en-US" altLang="zh-CN">
                <a:sym typeface="+mn-ea"/>
              </a:rPr>
              <a:t>While the margin seems small, look at the efficiency. We achieved this with significantly lower turnover.</a:t>
            </a:r>
            <a:endParaRPr lang="en-US" altLang="zh-CN"/>
          </a:p>
          <a:p>
            <a:r>
              <a:rPr lang="en-US" altLang="zh-CN">
                <a:sym typeface="+mn-ea"/>
              </a:rPr>
              <a:t>We avoided the 'death by a thousand cuts' of transaction costs, proving that in high-frequency trading, execution logic is just as important as prediction accuracy.</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Finally, we had to ensure this 1.66% wasn't just random noise.</a:t>
            </a:r>
            <a:endParaRPr lang="en-US" altLang="zh-CN"/>
          </a:p>
          <a:p>
            <a:r>
              <a:rPr lang="en-US" altLang="zh-CN"/>
              <a:t>We performed a Wilcoxon Signed-Rank Test on the paired fold returns.</a:t>
            </a:r>
            <a:endParaRPr lang="en-US" altLang="zh-CN"/>
          </a:p>
          <a:p>
            <a:r>
              <a:rPr lang="en-US" altLang="zh-CN"/>
              <a:t>We chose this non-parametric test because the return differences were not normally distributed.</a:t>
            </a:r>
            <a:endParaRPr lang="en-US" altLang="zh-CN"/>
          </a:p>
          <a:p>
            <a:r>
              <a:rPr lang="en-US" altLang="zh-CN"/>
              <a:t>The result gave a p-value of 0.021. Since this is below 0.05, we can confidently state that our MoE strategy significantly outperforms the baseline.</a:t>
            </a:r>
            <a:endParaRPr lang="en-US" altLang="zh-CN"/>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wrap up, our Final Year Project resolves the 'Lagging Paradox' by combining ARIMA with a regime-aware Mixture-of-Experts.</a:t>
            </a:r>
            <a:endParaRPr lang="en-US" altLang="zh-CN"/>
          </a:p>
          <a:p>
            <a:r>
              <a:rPr lang="en-US" altLang="zh-CN"/>
              <a:t>We have shown that:</a:t>
            </a:r>
            <a:endParaRPr lang="en-US" altLang="zh-CN"/>
          </a:p>
          <a:p>
            <a:r>
              <a:rPr lang="en-US" altLang="zh-CN"/>
              <a:t>1. The model is Robust across years and assets (Bitcoin).</a:t>
            </a:r>
            <a:endParaRPr lang="en-US" altLang="zh-CN"/>
          </a:p>
          <a:p>
            <a:r>
              <a:rPr lang="en-US" altLang="zh-CN"/>
              <a:t>2. It is Interpretable via the expert gating mechanism.</a:t>
            </a:r>
            <a:endParaRPr lang="en-US" altLang="zh-CN"/>
          </a:p>
          <a:p>
            <a:r>
              <a:rPr lang="en-US" altLang="zh-CN"/>
              <a:t>3. And most importantly, it is Economically Viable under realistic costs.</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domestic market remains predominantly policy-oriented. In our future model improvements, we plan to incorporate large language models (LLMs) specialized in textual analysis, such as FinGPT, to better capture policy-related information. I have personally experimented with this technique in the Banking course and achieved promising results.</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First and foremost, I would like to express my sincere gratitude to my supervisor, Dr. Sherry Zhou. Throughout the entire process—from topic selection and research design to model development and writing—Dr. Zhou provided me with patient guidance and invaluable advice. Her professionalism and rigorous approach have greatly benefited me.</a:t>
            </a:r>
            <a:endParaRPr lang="en-US" altLang="zh-CN"/>
          </a:p>
          <a:p>
            <a:r>
              <a:rPr lang="en-US" altLang="zh-CN"/>
              <a:t>I would also like to extend my thanks to Dr. Eric Zhao for taking the time to listen my report and offer insightful feedback despite his busy schedule. Your thoughtful questions will deepened my understanding of the research.</a:t>
            </a:r>
            <a:endParaRPr lang="en-US" altLang="zh-CN"/>
          </a:p>
          <a:p>
            <a:r>
              <a:rPr lang="en-US" altLang="zh-CN"/>
              <a:t>Additionally, I am grateful to all the instructors who have taught and supported me throughout the program, as well as to my classmates who have stood by me every step of the way. Thank you for your help, encouragement, and collaboration during discussions, experiments, and defense preparation. This achievement would not have been possible without everyone's collective efforts.</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22CCA0-8D39-42E0-B7F2-6F41AC12FC4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654019-C83B-407E-AA14-67F42986FC2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22CCA0-8D39-42E0-B7F2-6F41AC12FC4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654019-C83B-407E-AA14-67F42986FC2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3.jpeg"/><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image" Target="../media/image3.jpeg"/><Relationship Id="rId19" Type="http://schemas.openxmlformats.org/officeDocument/2006/relationships/notesSlide" Target="../notesSlides/notesSlide4.xml"/><Relationship Id="rId18" Type="http://schemas.openxmlformats.org/officeDocument/2006/relationships/slideLayout" Target="../slideLayouts/slideLayout7.xml"/><Relationship Id="rId17" Type="http://schemas.openxmlformats.org/officeDocument/2006/relationships/tags" Target="../tags/tag6.xml"/><Relationship Id="rId16" Type="http://schemas.openxmlformats.org/officeDocument/2006/relationships/tags" Target="../tags/tag5.xml"/><Relationship Id="rId15" Type="http://schemas.openxmlformats.org/officeDocument/2006/relationships/tags" Target="../tags/tag4.xml"/><Relationship Id="rId14" Type="http://schemas.openxmlformats.org/officeDocument/2006/relationships/tags" Target="../tags/tag3.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image" Target="../media/image9.svg"/><Relationship Id="rId10" Type="http://schemas.openxmlformats.org/officeDocument/2006/relationships/image" Target="../media/image8.pn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tags" Target="../tags/tag7.xml"/><Relationship Id="rId15" Type="http://schemas.openxmlformats.org/officeDocument/2006/relationships/notesSlide" Target="../notesSlides/notesSlide5.xml"/><Relationship Id="rId14" Type="http://schemas.openxmlformats.org/officeDocument/2006/relationships/slideLayout" Target="../slideLayouts/slideLayout7.xml"/><Relationship Id="rId13" Type="http://schemas.openxmlformats.org/officeDocument/2006/relationships/image" Target="../media/image17.png"/><Relationship Id="rId12" Type="http://schemas.openxmlformats.org/officeDocument/2006/relationships/image" Target="../media/image16.png"/><Relationship Id="rId11" Type="http://schemas.openxmlformats.org/officeDocument/2006/relationships/tags" Target="../tags/tag10.xml"/><Relationship Id="rId10" Type="http://schemas.openxmlformats.org/officeDocument/2006/relationships/image" Target="../media/image15.sv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jpeg"/></Relationships>
</file>

<file path=ppt/slides/_rels/slide7.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21.png"/><Relationship Id="rId12" Type="http://schemas.openxmlformats.org/officeDocument/2006/relationships/notesSlide" Target="../notesSlides/notesSlide7.xml"/><Relationship Id="rId11" Type="http://schemas.openxmlformats.org/officeDocument/2006/relationships/slideLayout" Target="../slideLayouts/slideLayout7.xml"/><Relationship Id="rId10" Type="http://schemas.openxmlformats.org/officeDocument/2006/relationships/image" Target="../media/image22.png"/><Relationship Id="rId1" Type="http://schemas.openxmlformats.org/officeDocument/2006/relationships/image" Target="../media/image20.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image" Target="../media/image26.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29.jpeg"/></Relationships>
</file>

<file path=ppt/slides/_rels/slide11.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tags" Target="../tags/tag20.xml"/><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tags" Target="../tags/tag19.xml"/><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tags" Target="../tags/tag18.xml"/><Relationship Id="rId19" Type="http://schemas.openxmlformats.org/officeDocument/2006/relationships/notesSlide" Target="../notesSlides/notesSlide11.xml"/><Relationship Id="rId18" Type="http://schemas.openxmlformats.org/officeDocument/2006/relationships/slideLayout" Target="../slideLayouts/slideLayout2.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image" Target="../media/image38.svg"/><Relationship Id="rId12" Type="http://schemas.openxmlformats.org/officeDocument/2006/relationships/image" Target="../media/image37.png"/><Relationship Id="rId11" Type="http://schemas.openxmlformats.org/officeDocument/2006/relationships/tags" Target="../tags/tag21.xml"/><Relationship Id="rId10" Type="http://schemas.openxmlformats.org/officeDocument/2006/relationships/image" Target="../media/image36.svg"/><Relationship Id="rId1"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62280" y="4777740"/>
            <a:ext cx="8324850" cy="14122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kumimoji="1" lang="en-US" altLang="zh-CN" sz="4800" b="1" dirty="0">
                <a:solidFill>
                  <a:srgbClr val="09928A"/>
                </a:solidFill>
                <a:latin typeface="Arial" panose="020B0604020202020204" pitchFamily="34" charset="0"/>
                <a:cs typeface="Arial" panose="020B0604020202020204" pitchFamily="34" charset="0"/>
              </a:rPr>
              <a:t>Robustness &amp; Execution</a:t>
            </a:r>
            <a:endParaRPr kumimoji="1" lang="en-US" altLang="zh-CN" sz="4800" b="1" dirty="0">
              <a:solidFill>
                <a:srgbClr val="09928A"/>
              </a:solidFill>
              <a:latin typeface="Arial" panose="020B0604020202020204" pitchFamily="34" charset="0"/>
              <a:cs typeface="Arial" panose="020B0604020202020204" pitchFamily="34" charset="0"/>
            </a:endParaRPr>
          </a:p>
        </p:txBody>
      </p:sp>
      <p:pic>
        <p:nvPicPr>
          <p:cNvPr id="5" name="内容占位符 4"/>
          <p:cNvPicPr>
            <a:picLocks noChangeAspect="1"/>
          </p:cNvPicPr>
          <p:nvPr/>
        </p:nvPicPr>
        <p:blipFill>
          <a:blip r:embed="rId1" cstate="screen"/>
          <a:srcRect/>
          <a:stretch>
            <a:fillRect/>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a:blipFill>
            <a:blip r:embed="rId2" cstate="screen"/>
            <a:stretch>
              <a:fillRect/>
            </a:stretch>
          </a:blipFill>
        </p:spPr>
      </p:pic>
      <p:sp>
        <p:nvSpPr>
          <p:cNvPr id="9" name="文本框 8"/>
          <p:cNvSpPr txBox="1"/>
          <p:nvPr/>
        </p:nvSpPr>
        <p:spPr>
          <a:xfrm>
            <a:off x="9883775" y="5095875"/>
            <a:ext cx="1533525" cy="1399540"/>
          </a:xfrm>
          <a:prstGeom prst="rect">
            <a:avLst/>
          </a:prstGeom>
        </p:spPr>
        <p:txBody>
          <a:bodyPr vert="horz" lIns="91440" tIns="45720" rIns="91440" bIns="45720" rtlCol="0" anchor="ctr">
            <a:normAutofit/>
          </a:bodyPr>
          <a:lstStyle/>
          <a:p>
            <a:pPr>
              <a:lnSpc>
                <a:spcPct val="90000"/>
              </a:lnSpc>
              <a:spcAft>
                <a:spcPts val="600"/>
              </a:spcAft>
            </a:pPr>
            <a:r>
              <a:rPr kumimoji="1" lang="en-US" altLang="zh-CN" sz="6000" b="1" dirty="0">
                <a:solidFill>
                  <a:srgbClr val="09928A"/>
                </a:solidFill>
                <a:latin typeface="Arial" panose="020B0604020202020204" pitchFamily="34" charset="0"/>
                <a:cs typeface="Arial" panose="020B0604020202020204" pitchFamily="34" charset="0"/>
              </a:rPr>
              <a:t>04</a:t>
            </a:r>
            <a:endParaRPr kumimoji="1" lang="en-US" altLang="zh-CN" sz="6000" b="1" dirty="0">
              <a:solidFill>
                <a:srgbClr val="09928A"/>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alphaModFix amt="48000"/>
          </a:blip>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4337" y="365444"/>
            <a:ext cx="10963326" cy="730888"/>
          </a:xfrm>
          <a:prstGeom prst="rect">
            <a:avLst/>
          </a:prstGeom>
          <a:noFill/>
        </p:spPr>
        <p:txBody>
          <a:bodyPr wrap="square" rtlCol="0" anchor="ctr"/>
          <a:lstStyle/>
          <a:p>
            <a:pPr marL="0" indent="0">
              <a:buNone/>
            </a:pPr>
            <a:r>
              <a:rPr lang="en-US" sz="3195" b="1" dirty="0">
                <a:solidFill>
                  <a:srgbClr val="003366"/>
                </a:solidFill>
              </a:rPr>
              <a:t>Rolling Window Cross -Validation</a:t>
            </a:r>
            <a:endParaRPr lang="en-US" sz="3195" dirty="0"/>
          </a:p>
        </p:txBody>
      </p:sp>
      <p:sp>
        <p:nvSpPr>
          <p:cNvPr id="3" name="Text 1"/>
          <p:cNvSpPr/>
          <p:nvPr/>
        </p:nvSpPr>
        <p:spPr>
          <a:xfrm>
            <a:off x="389255" y="1616710"/>
            <a:ext cx="5481955" cy="3624580"/>
          </a:xfrm>
          <a:prstGeom prst="rect">
            <a:avLst/>
          </a:prstGeom>
          <a:noFill/>
        </p:spPr>
        <p:txBody>
          <a:bodyPr wrap="square" rtlCol="0" anchor="ctr"/>
          <a:lstStyle/>
          <a:p>
            <a:pPr marL="0" indent="0">
              <a:lnSpc>
                <a:spcPct val="140000"/>
              </a:lnSpc>
              <a:buNone/>
            </a:pPr>
            <a:r>
              <a:rPr lang="en-US" sz="2000" b="1" dirty="0">
                <a:solidFill>
                  <a:srgbClr val="003366"/>
                </a:solidFill>
                <a:latin typeface="Noto Sans SC" panose="020B0200000000000000" charset="-122"/>
                <a:ea typeface="Noto Sans SC" panose="020B0200000000000000" charset="-122"/>
              </a:rPr>
              <a:t>• </a:t>
            </a:r>
            <a:r>
              <a:rPr lang="en-US" sz="2000" dirty="0">
                <a:solidFill>
                  <a:srgbClr val="333333"/>
                </a:solidFill>
                <a:latin typeface="Noto Sans SC" panose="020B0200000000000000" charset="-122"/>
                <a:ea typeface="Noto Sans SC" panose="020B0200000000000000" charset="-122"/>
              </a:rPr>
              <a:t>Evaluation across sliding windows (2021–2025) eliminates look‑ahead bias.
</a:t>
            </a:r>
            <a:endParaRPr lang="en-US" sz="2000" dirty="0">
              <a:solidFill>
                <a:srgbClr val="333333"/>
              </a:solidFill>
              <a:latin typeface="Noto Sans SC" panose="020B0200000000000000" charset="-122"/>
              <a:ea typeface="Noto Sans SC" panose="020B0200000000000000" charset="-122"/>
            </a:endParaRPr>
          </a:p>
          <a:p>
            <a:pPr marL="0" indent="0">
              <a:lnSpc>
                <a:spcPct val="140000"/>
              </a:lnSpc>
              <a:buNone/>
            </a:pPr>
            <a:r>
              <a:rPr lang="en-US" sz="2000" b="1" dirty="0">
                <a:solidFill>
                  <a:srgbClr val="003366"/>
                </a:solidFill>
                <a:latin typeface="Noto Sans SC" panose="020B0200000000000000" charset="-122"/>
                <a:ea typeface="Noto Sans SC" panose="020B0200000000000000" charset="-122"/>
              </a:rPr>
              <a:t>• </a:t>
            </a:r>
            <a:r>
              <a:rPr lang="en-US" sz="2000" dirty="0">
                <a:solidFill>
                  <a:srgbClr val="333333"/>
                </a:solidFill>
                <a:latin typeface="Noto Sans SC" panose="020B0200000000000000" charset="-122"/>
                <a:ea typeface="Noto Sans SC" panose="020B0200000000000000" charset="-122"/>
              </a:rPr>
              <a:t>Directional accuracy distribution approximates normality around 60–64%.
</a:t>
            </a:r>
            <a:endParaRPr lang="en-US" sz="2000" dirty="0">
              <a:solidFill>
                <a:srgbClr val="333333"/>
              </a:solidFill>
              <a:latin typeface="Noto Sans SC" panose="020B0200000000000000" charset="-122"/>
              <a:ea typeface="Noto Sans SC" panose="020B0200000000000000" charset="-122"/>
            </a:endParaRPr>
          </a:p>
          <a:p>
            <a:pPr marL="0" indent="0">
              <a:lnSpc>
                <a:spcPct val="140000"/>
              </a:lnSpc>
              <a:buNone/>
            </a:pPr>
            <a:r>
              <a:rPr lang="en-US" sz="2000" b="1" dirty="0">
                <a:solidFill>
                  <a:srgbClr val="003366"/>
                </a:solidFill>
                <a:latin typeface="Noto Sans SC" panose="020B0200000000000000" charset="-122"/>
                <a:ea typeface="Noto Sans SC" panose="020B0200000000000000" charset="-122"/>
              </a:rPr>
              <a:t>• </a:t>
            </a:r>
            <a:r>
              <a:rPr lang="en-US" sz="2000" dirty="0">
                <a:solidFill>
                  <a:srgbClr val="333333"/>
                </a:solidFill>
                <a:latin typeface="Noto Sans SC" panose="020B0200000000000000" charset="-122"/>
                <a:ea typeface="Noto Sans SC" panose="020B0200000000000000" charset="-122"/>
              </a:rPr>
              <a:t>Fold‑wise returns remain positive in most regimes, demonstrating robustness.</a:t>
            </a:r>
            <a:endParaRPr lang="en-US" sz="2000" dirty="0">
              <a:solidFill>
                <a:srgbClr val="333333"/>
              </a:solidFill>
              <a:latin typeface="Noto Sans SC" panose="020B0200000000000000" charset="-122"/>
              <a:ea typeface="Noto Sans SC" panose="020B0200000000000000" charset="-122"/>
            </a:endParaRPr>
          </a:p>
        </p:txBody>
      </p:sp>
      <p:pic>
        <p:nvPicPr>
          <p:cNvPr id="4" name="Image 0" descr="preencoded.png"/>
          <p:cNvPicPr>
            <a:picLocks noChangeAspect="1"/>
          </p:cNvPicPr>
          <p:nvPr/>
        </p:nvPicPr>
        <p:blipFill>
          <a:blip r:embed="rId2"/>
          <a:stretch>
            <a:fillRect/>
          </a:stretch>
        </p:blipFill>
        <p:spPr>
          <a:xfrm>
            <a:off x="5826760" y="1981200"/>
            <a:ext cx="6194425" cy="31807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alphaModFix amt="84000"/>
          </a:blip>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4337" y="365444"/>
            <a:ext cx="10963326" cy="730888"/>
          </a:xfrm>
          <a:prstGeom prst="rect">
            <a:avLst/>
          </a:prstGeom>
          <a:noFill/>
        </p:spPr>
        <p:txBody>
          <a:bodyPr wrap="square" rtlCol="0" anchor="ctr"/>
          <a:lstStyle/>
          <a:p>
            <a:pPr marL="0" indent="0">
              <a:buNone/>
            </a:pPr>
            <a:r>
              <a:rPr lang="en-US" sz="3195" b="1" dirty="0">
                <a:solidFill>
                  <a:srgbClr val="003366"/>
                </a:solidFill>
              </a:rPr>
              <a:t>Generalisation: Bitcoin Market</a:t>
            </a:r>
            <a:endParaRPr lang="en-US" sz="3195" dirty="0"/>
          </a:p>
        </p:txBody>
      </p:sp>
      <p:sp>
        <p:nvSpPr>
          <p:cNvPr id="4" name="Shape 1"/>
          <p:cNvSpPr/>
          <p:nvPr/>
        </p:nvSpPr>
        <p:spPr>
          <a:xfrm>
            <a:off x="780415" y="1708785"/>
            <a:ext cx="5229860" cy="3654425"/>
          </a:xfrm>
          <a:prstGeom prst="rect">
            <a:avLst/>
          </a:prstGeom>
          <a:solidFill>
            <a:srgbClr val="FFFFFF">
              <a:alpha val="60000"/>
            </a:srgbClr>
          </a:solidFill>
          <a:ln w="12700">
            <a:solidFill>
              <a:srgbClr val="FFFFFF"/>
            </a:solidFill>
            <a:prstDash val="solid"/>
          </a:ln>
        </p:spPr>
        <p:txBody>
          <a:bodyPr/>
          <a:p>
            <a:pPr>
              <a:lnSpc>
                <a:spcPct val="150000"/>
              </a:lnSpc>
            </a:pPr>
            <a:endParaRPr sz="2400"/>
          </a:p>
        </p:txBody>
      </p:sp>
      <p:sp>
        <p:nvSpPr>
          <p:cNvPr id="5" name="Text 2"/>
          <p:cNvSpPr/>
          <p:nvPr/>
        </p:nvSpPr>
        <p:spPr>
          <a:xfrm>
            <a:off x="780415" y="1827530"/>
            <a:ext cx="5315585" cy="3410585"/>
          </a:xfrm>
          <a:prstGeom prst="rect">
            <a:avLst/>
          </a:prstGeom>
          <a:noFill/>
        </p:spPr>
        <p:txBody>
          <a:bodyPr wrap="square" rtlCol="0" anchor="ctr"/>
          <a:lstStyle/>
          <a:p>
            <a:pPr marL="0" indent="0">
              <a:lnSpc>
                <a:spcPct val="170000"/>
              </a:lnSpc>
              <a:buNone/>
            </a:pPr>
            <a:r>
              <a:rPr lang="en-US" sz="2000" b="1" dirty="0">
                <a:solidFill>
                  <a:srgbClr val="003366"/>
                </a:solidFill>
                <a:latin typeface="Noto Sans SC" panose="020B0200000000000000" charset="-122"/>
                <a:ea typeface="Noto Sans SC" panose="020B0200000000000000" charset="-122"/>
              </a:rPr>
              <a:t>Total Return: </a:t>
            </a:r>
            <a:r>
              <a:rPr lang="en-US" sz="2000" dirty="0">
                <a:solidFill>
                  <a:srgbClr val="333333"/>
                </a:solidFill>
                <a:latin typeface="Noto Sans SC" panose="020B0200000000000000" charset="-122"/>
                <a:ea typeface="Noto Sans SC" panose="020B0200000000000000" charset="-122"/>
              </a:rPr>
              <a:t>−3.27% vs −25.68%
</a:t>
            </a:r>
            <a:r>
              <a:rPr lang="en-US" sz="2000" b="1" dirty="0">
                <a:solidFill>
                  <a:srgbClr val="003366"/>
                </a:solidFill>
                <a:latin typeface="Noto Sans SC" panose="020B0200000000000000" charset="-122"/>
                <a:ea typeface="Noto Sans SC" panose="020B0200000000000000" charset="-122"/>
              </a:rPr>
              <a:t>Sharpe Ratio: </a:t>
            </a:r>
            <a:r>
              <a:rPr lang="en-US" sz="2000" dirty="0">
                <a:solidFill>
                  <a:srgbClr val="333333"/>
                </a:solidFill>
                <a:latin typeface="Noto Sans SC" panose="020B0200000000000000" charset="-122"/>
                <a:ea typeface="Noto Sans SC" panose="020B0200000000000000" charset="-122"/>
              </a:rPr>
              <a:t>−0.207 vs −3.719
</a:t>
            </a:r>
            <a:r>
              <a:rPr lang="en-US" sz="2000" b="1" dirty="0">
                <a:solidFill>
                  <a:srgbClr val="003366"/>
                </a:solidFill>
                <a:latin typeface="Noto Sans SC" panose="020B0200000000000000" charset="-122"/>
                <a:ea typeface="Noto Sans SC" panose="020B0200000000000000" charset="-122"/>
              </a:rPr>
              <a:t>Max Drawdown: </a:t>
            </a:r>
            <a:r>
              <a:rPr lang="en-US" sz="2000" dirty="0">
                <a:solidFill>
                  <a:srgbClr val="333333"/>
                </a:solidFill>
                <a:latin typeface="Noto Sans SC" panose="020B0200000000000000" charset="-122"/>
                <a:ea typeface="Noto Sans SC" panose="020B0200000000000000" charset="-122"/>
              </a:rPr>
              <a:t>−27.72% vs −32.66%
</a:t>
            </a:r>
            <a:r>
              <a:rPr lang="en-US" dirty="0">
                <a:solidFill>
                  <a:srgbClr val="555555"/>
                </a:solidFill>
                <a:latin typeface="Noto Sans SC" panose="020B0200000000000000" charset="-122"/>
                <a:ea typeface="Noto Sans SC" panose="020B0200000000000000" charset="-122"/>
              </a:rPr>
              <a:t>The MoE strategy limits losses in a highly volatile cryptocurrency market, highlighting transferability across assets.</a:t>
            </a:r>
            <a:endParaRPr lang="en-US" dirty="0">
              <a:solidFill>
                <a:srgbClr val="555555"/>
              </a:solidFill>
              <a:latin typeface="Noto Sans SC" panose="020B0200000000000000" charset="-122"/>
              <a:ea typeface="Noto Sans SC" panose="020B0200000000000000" charset="-122"/>
            </a:endParaRPr>
          </a:p>
        </p:txBody>
      </p:sp>
      <p:graphicFrame>
        <p:nvGraphicFramePr>
          <p:cNvPr id="6" name="Chart 0"/>
          <p:cNvGraphicFramePr/>
          <p:nvPr/>
        </p:nvGraphicFramePr>
        <p:xfrm>
          <a:off x="6172200" y="1827221"/>
          <a:ext cx="5481663" cy="3654442"/>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图片包含 户外, 人, 建筑, 男人&#10;&#10;描述已自动生成"/>
          <p:cNvPicPr>
            <a:picLocks noChangeAspect="1"/>
          </p:cNvPicPr>
          <p:nvPr/>
        </p:nvPicPr>
        <p:blipFill>
          <a:blip r:embed="rId1" cstate="screen">
            <a:alphaModFix amt="80000"/>
          </a:blip>
          <a:stretch>
            <a:fillRect/>
          </a:stretch>
        </p:blipFill>
        <p:spPr>
          <a:xfrm>
            <a:off x="-203199" y="-1039233"/>
            <a:ext cx="12493686" cy="8329124"/>
          </a:xfrm>
          <a:prstGeom prst="rect">
            <a:avLst/>
          </a:prstGeom>
        </p:spPr>
      </p:pic>
      <p:pic>
        <p:nvPicPr>
          <p:cNvPr id="5" name="图片 4" descr="雪地上&#10;&#10;描述已自动生成"/>
          <p:cNvPicPr>
            <a:picLocks noChangeAspect="1"/>
          </p:cNvPicPr>
          <p:nvPr/>
        </p:nvPicPr>
        <p:blipFill>
          <a:blip r:embed="rId2">
            <a:alphaModFix amt="84000"/>
          </a:blip>
          <a:stretch>
            <a:fillRect/>
          </a:stretch>
        </p:blipFill>
        <p:spPr>
          <a:xfrm>
            <a:off x="-772502" y="-1169800"/>
            <a:ext cx="13905914" cy="9212668"/>
          </a:xfrm>
          <a:prstGeom prst="rect">
            <a:avLst/>
          </a:prstGeom>
        </p:spPr>
      </p:pic>
      <p:graphicFrame>
        <p:nvGraphicFramePr>
          <p:cNvPr id="13" name="图示 12"/>
          <p:cNvGraphicFramePr/>
          <p:nvPr/>
        </p:nvGraphicFramePr>
        <p:xfrm>
          <a:off x="2032000" y="720301"/>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文本框 1"/>
          <p:cNvSpPr txBox="1"/>
          <p:nvPr/>
        </p:nvSpPr>
        <p:spPr>
          <a:xfrm>
            <a:off x="2070100" y="441325"/>
            <a:ext cx="8089900" cy="460375"/>
          </a:xfrm>
          <a:prstGeom prst="rect">
            <a:avLst/>
          </a:prstGeom>
        </p:spPr>
        <p:txBody>
          <a:bodyPr wrap="square">
            <a:spAutoFit/>
          </a:bodyPr>
          <a:p>
            <a:pPr marL="95250" indent="0" algn="ctr" fontAlgn="base">
              <a:spcBef>
                <a:spcPct val="0"/>
              </a:spcBef>
              <a:spcAft>
                <a:spcPts val="600"/>
              </a:spcAft>
              <a:buFont typeface="Arial" panose="020B0604020202020204"/>
              <a:buNone/>
            </a:pPr>
            <a:r>
              <a:rPr lang="en-US" altLang="zh-CN" sz="2400" b="1" i="0">
                <a:solidFill>
                  <a:srgbClr val="900B1E"/>
                </a:solidFill>
                <a:latin typeface="Noto Sans SC" panose="020B0200000000000000" charset="-122"/>
                <a:ea typeface="Noto Sans SC" panose="020B0200000000000000" charset="-122"/>
              </a:rPr>
              <a:t>Motivation: Predictively Strong but Operationally Fragile?</a:t>
            </a:r>
            <a:endParaRPr lang="en-US" altLang="zh-CN" sz="2400" b="1" i="0">
              <a:solidFill>
                <a:srgbClr val="900B1E"/>
              </a:solidFill>
              <a:latin typeface="Noto Sans SC" panose="020B0200000000000000" charset="-122"/>
              <a:ea typeface="Noto Sans SC" panose="020B0200000000000000" charset="-122"/>
            </a:endParaRPr>
          </a:p>
        </p:txBody>
      </p:sp>
      <p:pic>
        <p:nvPicPr>
          <p:cNvPr id="3" name="图片 2"/>
          <p:cNvPicPr>
            <a:picLocks noChangeAspect="1"/>
          </p:cNvPicPr>
          <p:nvPr/>
        </p:nvPicPr>
        <p:blipFill>
          <a:blip r:embed="rId8"/>
          <a:srcRect t="9216"/>
          <a:stretch>
            <a:fillRect/>
          </a:stretch>
        </p:blipFill>
        <p:spPr>
          <a:xfrm>
            <a:off x="614680" y="1897380"/>
            <a:ext cx="3658235" cy="2439670"/>
          </a:xfrm>
          <a:prstGeom prst="rect">
            <a:avLst/>
          </a:prstGeom>
        </p:spPr>
      </p:pic>
      <p:pic>
        <p:nvPicPr>
          <p:cNvPr id="4" name="图片 3"/>
          <p:cNvPicPr>
            <a:picLocks noChangeAspect="1"/>
          </p:cNvPicPr>
          <p:nvPr/>
        </p:nvPicPr>
        <p:blipFill>
          <a:blip r:embed="rId9"/>
          <a:srcRect t="7107"/>
          <a:stretch>
            <a:fillRect/>
          </a:stretch>
        </p:blipFill>
        <p:spPr>
          <a:xfrm>
            <a:off x="7071995" y="1840230"/>
            <a:ext cx="3756025" cy="2489835"/>
          </a:xfrm>
          <a:prstGeom prst="rect">
            <a:avLst/>
          </a:prstGeom>
        </p:spPr>
      </p:pic>
      <p:sp>
        <p:nvSpPr>
          <p:cNvPr id="8" name="右箭头 7"/>
          <p:cNvSpPr/>
          <p:nvPr/>
        </p:nvSpPr>
        <p:spPr>
          <a:xfrm>
            <a:off x="4844415" y="2413000"/>
            <a:ext cx="1612265" cy="793115"/>
          </a:xfrm>
          <a:prstGeom prst="rightArrow">
            <a:avLst>
              <a:gd name="adj1" fmla="val 53242"/>
              <a:gd name="adj2" fmla="val 49159"/>
            </a:avLst>
          </a:prstGeom>
          <a:gradFill>
            <a:gsLst>
              <a:gs pos="0">
                <a:srgbClr val="EAEBE9"/>
              </a:gs>
              <a:gs pos="100000">
                <a:srgbClr val="900B1E"/>
              </a:gs>
            </a:gsLst>
            <a:lin ang="0" scaled="0"/>
          </a:gradFill>
        </p:spPr>
        <p:style>
          <a:lnRef idx="0">
            <a:srgbClr val="FFFFFF"/>
          </a:lnRef>
          <a:fillRef idx="1">
            <a:schemeClr val="accent2"/>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320800" y="1363980"/>
            <a:ext cx="3060700" cy="398780"/>
          </a:xfrm>
          <a:prstGeom prst="rect">
            <a:avLst/>
          </a:prstGeom>
          <a:noFill/>
        </p:spPr>
        <p:txBody>
          <a:bodyPr wrap="square" rtlCol="0">
            <a:spAutoFit/>
          </a:bodyPr>
          <a:p>
            <a:r>
              <a:rPr lang="en-US" altLang="zh-CN" sz="2000" b="1">
                <a:solidFill>
                  <a:srgbClr val="900B1E"/>
                </a:solidFill>
              </a:rPr>
              <a:t>The Daily Illusion</a:t>
            </a:r>
            <a:endParaRPr lang="en-US" altLang="zh-CN" sz="2000" b="1">
              <a:solidFill>
                <a:srgbClr val="900B1E"/>
              </a:solidFill>
            </a:endParaRPr>
          </a:p>
        </p:txBody>
      </p:sp>
      <p:sp>
        <p:nvSpPr>
          <p:cNvPr id="12" name="圆角矩形 11"/>
          <p:cNvSpPr/>
          <p:nvPr/>
        </p:nvSpPr>
        <p:spPr>
          <a:xfrm>
            <a:off x="9618980" y="1871980"/>
            <a:ext cx="349250" cy="2260600"/>
          </a:xfrm>
          <a:prstGeom prst="roundRect">
            <a:avLst/>
          </a:prstGeom>
          <a:solidFill>
            <a:srgbClr val="900B1E">
              <a:alpha val="1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4" name="图片 13" descr="警告"/>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840980" y="3308985"/>
            <a:ext cx="254635" cy="254635"/>
          </a:xfrm>
          <a:prstGeom prst="rect">
            <a:avLst/>
          </a:prstGeom>
        </p:spPr>
      </p:pic>
      <p:sp>
        <p:nvSpPr>
          <p:cNvPr id="15" name="文本框 14"/>
          <p:cNvSpPr txBox="1"/>
          <p:nvPr/>
        </p:nvSpPr>
        <p:spPr>
          <a:xfrm>
            <a:off x="8140065" y="3206115"/>
            <a:ext cx="2126615" cy="460375"/>
          </a:xfrm>
          <a:prstGeom prst="rect">
            <a:avLst/>
          </a:prstGeom>
          <a:noFill/>
        </p:spPr>
        <p:txBody>
          <a:bodyPr wrap="square" rtlCol="0">
            <a:spAutoFit/>
          </a:bodyPr>
          <a:p>
            <a:r>
              <a:rPr lang="en-US" altLang="zh-CN" sz="1200">
                <a:solidFill>
                  <a:schemeClr val="accent1">
                    <a:lumMod val="75000"/>
                  </a:schemeClr>
                </a:solidFill>
                <a:latin typeface="Noto Sans SC" panose="020B0200000000000000" charset="-122"/>
                <a:ea typeface="Noto Sans SC" panose="020B0200000000000000" charset="-122"/>
              </a:rPr>
              <a:t>Flash Crash Event:</a:t>
            </a:r>
            <a:endParaRPr lang="en-US" altLang="zh-CN" sz="1200">
              <a:solidFill>
                <a:schemeClr val="accent1">
                  <a:lumMod val="75000"/>
                </a:schemeClr>
              </a:solidFill>
              <a:latin typeface="Noto Sans SC" panose="020B0200000000000000" charset="-122"/>
              <a:ea typeface="Noto Sans SC" panose="020B0200000000000000" charset="-122"/>
            </a:endParaRPr>
          </a:p>
          <a:p>
            <a:r>
              <a:rPr lang="en-US" altLang="zh-CN" sz="1200">
                <a:solidFill>
                  <a:schemeClr val="accent1">
                    <a:lumMod val="75000"/>
                  </a:schemeClr>
                </a:solidFill>
                <a:latin typeface="Noto Sans SC" panose="020B0200000000000000" charset="-122"/>
                <a:ea typeface="Noto Sans SC" panose="020B0200000000000000" charset="-122"/>
              </a:rPr>
              <a:t>Liquidity Vanishes</a:t>
            </a:r>
            <a:endParaRPr lang="en-US" altLang="zh-CN" sz="1200">
              <a:solidFill>
                <a:schemeClr val="accent1">
                  <a:lumMod val="75000"/>
                </a:schemeClr>
              </a:solidFill>
              <a:latin typeface="Noto Sans SC" panose="020B0200000000000000" charset="-122"/>
              <a:ea typeface="Noto Sans SC" panose="020B0200000000000000" charset="-122"/>
            </a:endParaRPr>
          </a:p>
        </p:txBody>
      </p:sp>
      <p:cxnSp>
        <p:nvCxnSpPr>
          <p:cNvPr id="16" name="直接连接符 15"/>
          <p:cNvCxnSpPr/>
          <p:nvPr/>
        </p:nvCxnSpPr>
        <p:spPr>
          <a:xfrm flipV="1">
            <a:off x="508000" y="4628515"/>
            <a:ext cx="10541000" cy="19050"/>
          </a:xfrm>
          <a:prstGeom prst="line">
            <a:avLst/>
          </a:prstGeom>
          <a:ln>
            <a:solidFill>
              <a:srgbClr val="900B1E"/>
            </a:solidFill>
          </a:ln>
        </p:spPr>
        <p:style>
          <a:lnRef idx="2">
            <a:schemeClr val="accent1"/>
          </a:lnRef>
          <a:fillRef idx="0">
            <a:srgbClr val="FFFFFF"/>
          </a:fillRef>
          <a:effectRef idx="0">
            <a:srgbClr val="FFFFFF"/>
          </a:effectRef>
          <a:fontRef idx="minor">
            <a:schemeClr val="tx1"/>
          </a:fontRef>
        </p:style>
      </p:cxnSp>
      <p:sp>
        <p:nvSpPr>
          <p:cNvPr id="17" name="文本框 16"/>
          <p:cNvSpPr txBox="1"/>
          <p:nvPr>
            <p:custDataLst>
              <p:tags r:id="rId12"/>
            </p:custDataLst>
          </p:nvPr>
        </p:nvSpPr>
        <p:spPr>
          <a:xfrm>
            <a:off x="508000" y="5053965"/>
            <a:ext cx="2654935" cy="398780"/>
          </a:xfrm>
          <a:prstGeom prst="rect">
            <a:avLst/>
          </a:prstGeom>
          <a:noFill/>
        </p:spPr>
        <p:txBody>
          <a:bodyPr wrap="square" rtlCol="0">
            <a:spAutoFit/>
          </a:bodyPr>
          <a:p>
            <a:r>
              <a:rPr lang="en-US" altLang="zh-CN" sz="2000">
                <a:solidFill>
                  <a:srgbClr val="900B1E"/>
                </a:solidFill>
                <a:latin typeface="Noto Sans SC Black" panose="020B0200000000000000" charset="-122"/>
                <a:ea typeface="Noto Sans SC Black" panose="020B0200000000000000" charset="-122"/>
              </a:rPr>
              <a:t>1. The Daily Illustion</a:t>
            </a:r>
            <a:endParaRPr lang="en-US" altLang="zh-CN" sz="2000">
              <a:solidFill>
                <a:srgbClr val="900B1E"/>
              </a:solidFill>
              <a:latin typeface="Noto Sans SC Black" panose="020B0200000000000000" charset="-122"/>
              <a:ea typeface="Noto Sans SC Black" panose="020B0200000000000000" charset="-122"/>
            </a:endParaRPr>
          </a:p>
        </p:txBody>
      </p:sp>
      <p:sp>
        <p:nvSpPr>
          <p:cNvPr id="19" name="文本框 18"/>
          <p:cNvSpPr txBox="1"/>
          <p:nvPr>
            <p:custDataLst>
              <p:tags r:id="rId13"/>
            </p:custDataLst>
          </p:nvPr>
        </p:nvSpPr>
        <p:spPr>
          <a:xfrm>
            <a:off x="419100" y="5582285"/>
            <a:ext cx="3626485" cy="922020"/>
          </a:xfrm>
          <a:prstGeom prst="rect">
            <a:avLst/>
          </a:prstGeom>
          <a:noFill/>
        </p:spPr>
        <p:txBody>
          <a:bodyPr wrap="square" rtlCol="0">
            <a:spAutoFit/>
          </a:bodyPr>
          <a:p>
            <a:r>
              <a:rPr lang="en-US" altLang="zh-CN">
                <a:solidFill>
                  <a:srgbClr val="900B1E"/>
                </a:solidFill>
                <a:latin typeface="Noto Sans SC" panose="020B0200000000000000" charset="-122"/>
                <a:ea typeface="Noto Sans SC" panose="020B0200000000000000" charset="-122"/>
              </a:rPr>
              <a:t>Daily data smooths out volatility and masks theintense noise of real-time markets.</a:t>
            </a:r>
            <a:endParaRPr lang="en-US" altLang="zh-CN">
              <a:solidFill>
                <a:srgbClr val="900B1E"/>
              </a:solidFill>
              <a:latin typeface="Noto Sans SC" panose="020B0200000000000000" charset="-122"/>
              <a:ea typeface="Noto Sans SC" panose="020B0200000000000000" charset="-122"/>
            </a:endParaRPr>
          </a:p>
        </p:txBody>
      </p:sp>
      <p:sp>
        <p:nvSpPr>
          <p:cNvPr id="20" name="文本框 19"/>
          <p:cNvSpPr txBox="1"/>
          <p:nvPr>
            <p:custDataLst>
              <p:tags r:id="rId14"/>
            </p:custDataLst>
          </p:nvPr>
        </p:nvSpPr>
        <p:spPr>
          <a:xfrm>
            <a:off x="4045585" y="5053965"/>
            <a:ext cx="4006850" cy="398780"/>
          </a:xfrm>
          <a:prstGeom prst="rect">
            <a:avLst/>
          </a:prstGeom>
          <a:noFill/>
        </p:spPr>
        <p:txBody>
          <a:bodyPr wrap="square" rtlCol="0">
            <a:spAutoFit/>
          </a:bodyPr>
          <a:p>
            <a:r>
              <a:rPr lang="en-US" altLang="zh-CN" sz="2000">
                <a:solidFill>
                  <a:srgbClr val="900B1E"/>
                </a:solidFill>
                <a:latin typeface="Noto Sans SC Black" panose="020B0200000000000000" charset="-122"/>
                <a:ea typeface="Noto Sans SC Black" panose="020B0200000000000000" charset="-122"/>
              </a:rPr>
              <a:t>2. The High-Frequency Gauntlet</a:t>
            </a:r>
            <a:endParaRPr lang="en-US" altLang="zh-CN" sz="2000">
              <a:solidFill>
                <a:srgbClr val="900B1E"/>
              </a:solidFill>
              <a:latin typeface="Noto Sans SC Black" panose="020B0200000000000000" charset="-122"/>
              <a:ea typeface="Noto Sans SC Black" panose="020B0200000000000000" charset="-122"/>
            </a:endParaRPr>
          </a:p>
        </p:txBody>
      </p:sp>
      <p:sp>
        <p:nvSpPr>
          <p:cNvPr id="21" name="文本框 20"/>
          <p:cNvSpPr txBox="1"/>
          <p:nvPr>
            <p:custDataLst>
              <p:tags r:id="rId15"/>
            </p:custDataLst>
          </p:nvPr>
        </p:nvSpPr>
        <p:spPr>
          <a:xfrm>
            <a:off x="4133215" y="5582285"/>
            <a:ext cx="3638550" cy="922020"/>
          </a:xfrm>
          <a:prstGeom prst="rect">
            <a:avLst/>
          </a:prstGeom>
          <a:noFill/>
        </p:spPr>
        <p:txBody>
          <a:bodyPr wrap="square" rtlCol="0">
            <a:spAutoFit/>
          </a:bodyPr>
          <a:p>
            <a:r>
              <a:rPr lang="en-US" altLang="zh-CN">
                <a:solidFill>
                  <a:srgbClr val="900B1E"/>
                </a:solidFill>
                <a:latin typeface="Noto Sans SC" panose="020B0200000000000000" charset="-122"/>
                <a:ea typeface="Noto Sans SC" panose="020B0200000000000000" charset="-122"/>
              </a:rPr>
              <a:t>Intraday microstructure noise and liquidity frictions often erase theoretical alpha.</a:t>
            </a:r>
            <a:endParaRPr lang="en-US" altLang="zh-CN">
              <a:solidFill>
                <a:srgbClr val="900B1E"/>
              </a:solidFill>
              <a:latin typeface="Noto Sans SC" panose="020B0200000000000000" charset="-122"/>
              <a:ea typeface="Noto Sans SC" panose="020B0200000000000000" charset="-122"/>
            </a:endParaRPr>
          </a:p>
        </p:txBody>
      </p:sp>
      <p:sp>
        <p:nvSpPr>
          <p:cNvPr id="22" name="文本框 21"/>
          <p:cNvSpPr txBox="1"/>
          <p:nvPr>
            <p:custDataLst>
              <p:tags r:id="rId16"/>
            </p:custDataLst>
          </p:nvPr>
        </p:nvSpPr>
        <p:spPr>
          <a:xfrm>
            <a:off x="8543925" y="5053965"/>
            <a:ext cx="3041650" cy="398780"/>
          </a:xfrm>
          <a:prstGeom prst="rect">
            <a:avLst/>
          </a:prstGeom>
          <a:noFill/>
        </p:spPr>
        <p:txBody>
          <a:bodyPr wrap="square" rtlCol="0">
            <a:spAutoFit/>
          </a:bodyPr>
          <a:p>
            <a:r>
              <a:rPr lang="en-US" altLang="zh-CN" sz="2000">
                <a:solidFill>
                  <a:srgbClr val="900B1E"/>
                </a:solidFill>
                <a:latin typeface="Noto Sans SC Black" panose="020B0200000000000000" charset="-122"/>
                <a:ea typeface="Noto Sans SC Black" panose="020B0200000000000000" charset="-122"/>
              </a:rPr>
              <a:t>3. The Core Question</a:t>
            </a:r>
            <a:endParaRPr lang="en-US" altLang="zh-CN" sz="2000">
              <a:solidFill>
                <a:srgbClr val="900B1E"/>
              </a:solidFill>
              <a:latin typeface="Noto Sans SC Black" panose="020B0200000000000000" charset="-122"/>
              <a:ea typeface="Noto Sans SC Black" panose="020B0200000000000000" charset="-122"/>
            </a:endParaRPr>
          </a:p>
        </p:txBody>
      </p:sp>
      <p:sp>
        <p:nvSpPr>
          <p:cNvPr id="23" name="文本框 22"/>
          <p:cNvSpPr txBox="1"/>
          <p:nvPr>
            <p:custDataLst>
              <p:tags r:id="rId17"/>
            </p:custDataLst>
          </p:nvPr>
        </p:nvSpPr>
        <p:spPr>
          <a:xfrm>
            <a:off x="8461375" y="5582285"/>
            <a:ext cx="3638550" cy="645160"/>
          </a:xfrm>
          <a:prstGeom prst="rect">
            <a:avLst/>
          </a:prstGeom>
          <a:noFill/>
        </p:spPr>
        <p:txBody>
          <a:bodyPr wrap="square" rtlCol="0">
            <a:spAutoFit/>
          </a:bodyPr>
          <a:p>
            <a:r>
              <a:rPr lang="en-US" altLang="zh-CN">
                <a:solidFill>
                  <a:srgbClr val="900B1E"/>
                </a:solidFill>
                <a:latin typeface="Noto Sans SC" panose="020B0200000000000000" charset="-122"/>
                <a:ea typeface="Noto Sans SC" panose="020B0200000000000000" charset="-122"/>
              </a:rPr>
              <a:t>Can MoE survive high noise to prove real-world viability?</a:t>
            </a:r>
            <a:endParaRPr lang="en-US" altLang="zh-CN">
              <a:solidFill>
                <a:srgbClr val="900B1E"/>
              </a:solidFill>
              <a:latin typeface="Noto Sans SC" panose="020B0200000000000000" charset="-122"/>
              <a:ea typeface="Noto Sans SC" panose="020B02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alphaModFix amt="65000"/>
          </a:blip>
          <a:stretch>
            <a:fillRect/>
          </a:stretch>
        </a:blipFill>
        <a:effectLst/>
      </p:bgPr>
    </p:bg>
    <p:spTree>
      <p:nvGrpSpPr>
        <p:cNvPr id="1" name=""/>
        <p:cNvGrpSpPr/>
        <p:nvPr/>
      </p:nvGrpSpPr>
      <p:grpSpPr/>
      <p:sp>
        <p:nvSpPr>
          <p:cNvPr id="31" name="圆角矩形 30"/>
          <p:cNvSpPr/>
          <p:nvPr/>
        </p:nvSpPr>
        <p:spPr>
          <a:xfrm>
            <a:off x="6958965" y="345440"/>
            <a:ext cx="5130800" cy="3429000"/>
          </a:xfrm>
          <a:prstGeom prst="roundRect">
            <a:avLst/>
          </a:prstGeom>
          <a:solidFill>
            <a:srgbClr val="FFFFFF"/>
          </a:solidFill>
          <a:ln>
            <a:solidFill>
              <a:schemeClr val="bg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矩形 26"/>
          <p:cNvSpPr/>
          <p:nvPr/>
        </p:nvSpPr>
        <p:spPr>
          <a:xfrm>
            <a:off x="4126865" y="3829050"/>
            <a:ext cx="8011795" cy="2985135"/>
          </a:xfrm>
          <a:prstGeom prst="rect">
            <a:avLst/>
          </a:prstGeom>
          <a:solidFill>
            <a:srgbClr val="F7F7F6"/>
          </a:solidFill>
          <a:ln w="28575">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002447"/>
              </a:solidFill>
            </a:endParaRPr>
          </a:p>
        </p:txBody>
      </p:sp>
      <p:pic>
        <p:nvPicPr>
          <p:cNvPr id="2" name="图片 1" descr="生物学"/>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772795" y="3535045"/>
            <a:ext cx="559435" cy="559435"/>
          </a:xfrm>
          <a:prstGeom prst="rect">
            <a:avLst/>
          </a:prstGeom>
        </p:spPr>
      </p:pic>
      <p:sp>
        <p:nvSpPr>
          <p:cNvPr id="3" name="文本框 2"/>
          <p:cNvSpPr txBox="1"/>
          <p:nvPr/>
        </p:nvSpPr>
        <p:spPr>
          <a:xfrm>
            <a:off x="1661160" y="2450465"/>
            <a:ext cx="2167890" cy="645160"/>
          </a:xfrm>
          <a:prstGeom prst="rect">
            <a:avLst/>
          </a:prstGeom>
          <a:noFill/>
        </p:spPr>
        <p:txBody>
          <a:bodyPr wrap="square" rtlCol="0">
            <a:spAutoFit/>
          </a:bodyPr>
          <a:p>
            <a:r>
              <a:rPr lang="en-US" altLang="zh-CN">
                <a:solidFill>
                  <a:srgbClr val="002447"/>
                </a:solidFill>
                <a:latin typeface="Noto Sans SC Black" panose="020B0200000000000000" charset="-122"/>
                <a:ea typeface="Noto Sans SC Black" panose="020B0200000000000000" charset="-122"/>
                <a:cs typeface="Noto Sans SC Black" panose="020B0200000000000000" charset="-122"/>
              </a:rPr>
              <a:t>Source</a:t>
            </a:r>
            <a:r>
              <a:rPr lang="zh-CN" altLang="en-US">
                <a:solidFill>
                  <a:srgbClr val="002447"/>
                </a:solidFill>
                <a:latin typeface="Noto Sans SC Black" panose="020B0200000000000000" charset="-122"/>
                <a:ea typeface="Noto Sans SC Black" panose="020B0200000000000000" charset="-122"/>
                <a:cs typeface="Noto Sans SC Black" panose="020B0200000000000000" charset="-122"/>
              </a:rPr>
              <a:t>：</a:t>
            </a:r>
            <a:endParaRPr lang="zh-CN" altLang="en-US">
              <a:solidFill>
                <a:srgbClr val="002447"/>
              </a:solidFill>
              <a:latin typeface="Noto Sans SC Black" panose="020B0200000000000000" charset="-122"/>
              <a:ea typeface="Noto Sans SC Black" panose="020B0200000000000000" charset="-122"/>
              <a:cs typeface="Noto Sans SC Black" panose="020B0200000000000000" charset="-122"/>
            </a:endParaRPr>
          </a:p>
          <a:p>
            <a:r>
              <a:rPr lang="en-US" altLang="zh-CN">
                <a:solidFill>
                  <a:srgbClr val="002447"/>
                </a:solidFill>
                <a:latin typeface="Noto Sans SC" panose="020B0200000000000000" charset="-122"/>
                <a:ea typeface="Noto Sans SC" panose="020B0200000000000000" charset="-122"/>
                <a:cs typeface="Noto Sans SC Black" panose="020B0200000000000000" charset="-122"/>
              </a:rPr>
              <a:t>Wind Database</a:t>
            </a:r>
            <a:endParaRPr lang="en-US" altLang="zh-CN">
              <a:solidFill>
                <a:srgbClr val="002447"/>
              </a:solidFill>
              <a:latin typeface="Noto Sans SC" panose="020B0200000000000000" charset="-122"/>
              <a:ea typeface="Noto Sans SC" panose="020B0200000000000000" charset="-122"/>
              <a:cs typeface="Noto Sans SC Black" panose="020B0200000000000000" charset="-122"/>
            </a:endParaRPr>
          </a:p>
        </p:txBody>
      </p:sp>
      <p:pic>
        <p:nvPicPr>
          <p:cNvPr id="5" name="图片 4" descr="数据库"/>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2795" y="2326005"/>
            <a:ext cx="617220" cy="617220"/>
          </a:xfrm>
          <a:prstGeom prst="rect">
            <a:avLst/>
          </a:prstGeom>
        </p:spPr>
      </p:pic>
      <p:sp>
        <p:nvSpPr>
          <p:cNvPr id="6" name="文本框 5"/>
          <p:cNvSpPr txBox="1"/>
          <p:nvPr>
            <p:custDataLst>
              <p:tags r:id="rId7"/>
            </p:custDataLst>
          </p:nvPr>
        </p:nvSpPr>
        <p:spPr>
          <a:xfrm>
            <a:off x="1661160" y="3636645"/>
            <a:ext cx="2167890" cy="922020"/>
          </a:xfrm>
          <a:prstGeom prst="rect">
            <a:avLst/>
          </a:prstGeom>
          <a:noFill/>
        </p:spPr>
        <p:txBody>
          <a:bodyPr wrap="square" rtlCol="0">
            <a:spAutoFit/>
          </a:bodyPr>
          <a:p>
            <a:r>
              <a:rPr lang="en-US" altLang="zh-CN">
                <a:solidFill>
                  <a:srgbClr val="002447"/>
                </a:solidFill>
                <a:latin typeface="Noto Sans SC Black" panose="020B0200000000000000" charset="-122"/>
                <a:ea typeface="Noto Sans SC Black" panose="020B0200000000000000" charset="-122"/>
                <a:cs typeface="Noto Sans SC Black" panose="020B0200000000000000" charset="-122"/>
              </a:rPr>
              <a:t>Scale: </a:t>
            </a:r>
            <a:r>
              <a:rPr lang="en-US">
                <a:solidFill>
                  <a:srgbClr val="002447"/>
                </a:solidFill>
                <a:latin typeface="Noto Sans SC" panose="020B0200000000000000" charset="-122"/>
                <a:ea typeface="Noto Sans SC" panose="020B0200000000000000" charset="-122"/>
                <a:cs typeface="Noto Sans SC Black" panose="020B0200000000000000" charset="-122"/>
                <a:sym typeface="+mn-ea"/>
              </a:rPr>
              <a:t>194,236 </a:t>
            </a:r>
            <a:r>
              <a:rPr lang="en-US" altLang="zh-CN">
                <a:solidFill>
                  <a:srgbClr val="002447"/>
                </a:solidFill>
                <a:latin typeface="Noto Sans SC" panose="020B0200000000000000" charset="-122"/>
                <a:ea typeface="Noto Sans SC" panose="020B0200000000000000" charset="-122"/>
                <a:cs typeface="Noto Sans SC Black" panose="020B0200000000000000" charset="-122"/>
              </a:rPr>
              <a:t>data points (vs. ~800 in daily).</a:t>
            </a:r>
            <a:endParaRPr lang="en-US" altLang="zh-CN">
              <a:solidFill>
                <a:srgbClr val="002447"/>
              </a:solidFill>
              <a:latin typeface="Noto Sans SC" panose="020B0200000000000000" charset="-122"/>
              <a:ea typeface="Noto Sans SC" panose="020B0200000000000000" charset="-122"/>
              <a:cs typeface="Noto Sans SC Black" panose="020B0200000000000000" charset="-122"/>
            </a:endParaRPr>
          </a:p>
        </p:txBody>
      </p:sp>
      <p:pic>
        <p:nvPicPr>
          <p:cNvPr id="8" name="图片 7" descr="趋势"/>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772795" y="4868545"/>
            <a:ext cx="560705" cy="560705"/>
          </a:xfrm>
          <a:prstGeom prst="rect">
            <a:avLst/>
          </a:prstGeom>
        </p:spPr>
      </p:pic>
      <p:sp>
        <p:nvSpPr>
          <p:cNvPr id="9" name="文本框 8"/>
          <p:cNvSpPr txBox="1"/>
          <p:nvPr>
            <p:custDataLst>
              <p:tags r:id="rId11"/>
            </p:custDataLst>
          </p:nvPr>
        </p:nvSpPr>
        <p:spPr>
          <a:xfrm>
            <a:off x="1597660" y="4868545"/>
            <a:ext cx="2366010" cy="1198880"/>
          </a:xfrm>
          <a:prstGeom prst="rect">
            <a:avLst/>
          </a:prstGeom>
        </p:spPr>
        <p:txBody>
          <a:bodyPr wrap="square">
            <a:spAutoFit/>
          </a:bodyPr>
          <a:p>
            <a:pPr algn="l" defTabSz="914400">
              <a:buClrTx/>
              <a:buSzTx/>
              <a:buNone/>
            </a:pPr>
            <a:r>
              <a:rPr lang="en-US" altLang="zh-CN" sz="1800">
                <a:solidFill>
                  <a:srgbClr val="002447"/>
                </a:solidFill>
                <a:latin typeface="Noto Sans SC Black" panose="020B0200000000000000" charset="-122"/>
                <a:ea typeface="Noto Sans SC Black" panose="020B0200000000000000" charset="-122"/>
                <a:cs typeface="Noto Sans SC Black" panose="020B0200000000000000" charset="-122"/>
              </a:rPr>
              <a:t>Validation: </a:t>
            </a:r>
            <a:endParaRPr lang="en-US" altLang="zh-CN" sz="1800">
              <a:solidFill>
                <a:srgbClr val="002447"/>
              </a:solidFill>
              <a:latin typeface="Noto Sans SC Black" panose="020B0200000000000000" charset="-122"/>
              <a:ea typeface="Noto Sans SC Black" panose="020B0200000000000000" charset="-122"/>
              <a:cs typeface="Noto Sans SC Black" panose="020B0200000000000000" charset="-122"/>
            </a:endParaRPr>
          </a:p>
          <a:p>
            <a:pPr algn="l" defTabSz="914400">
              <a:buClrTx/>
              <a:buSzTx/>
              <a:buNone/>
            </a:pPr>
            <a:r>
              <a:rPr lang="en-US" altLang="zh-CN" sz="1800">
                <a:solidFill>
                  <a:srgbClr val="002447"/>
                </a:solidFill>
                <a:latin typeface="Noto Sans SC" panose="020B0200000000000000" charset="-122"/>
                <a:ea typeface="Noto Sans SC" panose="020B0200000000000000" charset="-122"/>
                <a:cs typeface="Noto Sans SC Black" panose="020B0200000000000000" charset="-122"/>
              </a:rPr>
              <a:t>Strict Rolling Walk-Forward </a:t>
            </a:r>
            <a:endParaRPr lang="en-US" altLang="zh-CN" sz="1800">
              <a:solidFill>
                <a:srgbClr val="002447"/>
              </a:solidFill>
              <a:latin typeface="Noto Sans SC" panose="020B0200000000000000" charset="-122"/>
              <a:ea typeface="Noto Sans SC" panose="020B0200000000000000" charset="-122"/>
              <a:cs typeface="Noto Sans SC Black" panose="020B0200000000000000" charset="-122"/>
            </a:endParaRPr>
          </a:p>
          <a:p>
            <a:pPr algn="l" defTabSz="914400">
              <a:buClrTx/>
              <a:buSzTx/>
              <a:buNone/>
            </a:pPr>
            <a:r>
              <a:rPr lang="en-US" altLang="zh-CN" sz="1800">
                <a:solidFill>
                  <a:srgbClr val="002447"/>
                </a:solidFill>
                <a:latin typeface="Noto Sans SC" panose="020B0200000000000000" charset="-122"/>
                <a:ea typeface="Noto Sans SC" panose="020B0200000000000000" charset="-122"/>
                <a:cs typeface="Noto Sans SC Black" panose="020B0200000000000000" charset="-122"/>
              </a:rPr>
              <a:t>(No look-ahead bias)</a:t>
            </a:r>
            <a:endParaRPr lang="en-US" altLang="zh-CN" sz="1800">
              <a:solidFill>
                <a:srgbClr val="002447"/>
              </a:solidFill>
              <a:latin typeface="Noto Sans SC" panose="020B0200000000000000" charset="-122"/>
              <a:ea typeface="Noto Sans SC" panose="020B0200000000000000" charset="-122"/>
              <a:cs typeface="Noto Sans SC Black" panose="020B0200000000000000" charset="-122"/>
            </a:endParaRPr>
          </a:p>
        </p:txBody>
      </p:sp>
      <p:sp>
        <p:nvSpPr>
          <p:cNvPr id="10" name="文本框 9"/>
          <p:cNvSpPr txBox="1"/>
          <p:nvPr/>
        </p:nvSpPr>
        <p:spPr>
          <a:xfrm>
            <a:off x="494030" y="878205"/>
            <a:ext cx="5523865" cy="645160"/>
          </a:xfrm>
          <a:prstGeom prst="rect">
            <a:avLst/>
          </a:prstGeom>
        </p:spPr>
        <p:txBody>
          <a:bodyPr wrap="square">
            <a:spAutoFit/>
          </a:bodyPr>
          <a:p>
            <a:pPr defTabSz="266700"/>
            <a:r>
              <a:rPr lang="en-US" altLang="zh-CN" sz="3600" b="1">
                <a:solidFill>
                  <a:srgbClr val="002447"/>
                </a:solidFill>
                <a:latin typeface="Noto Sans SC Black" panose="020B0200000000000000" charset="-122"/>
                <a:ea typeface="Noto Sans SC Black" panose="020B0200000000000000" charset="-122"/>
              </a:rPr>
              <a:t>Why Heterogeneous MoE?</a:t>
            </a:r>
            <a:endParaRPr lang="en-US" altLang="zh-CN" sz="3600" b="1">
              <a:solidFill>
                <a:srgbClr val="002447"/>
              </a:solidFill>
              <a:latin typeface="Noto Sans SC Black" panose="020B0200000000000000" charset="-122"/>
              <a:ea typeface="Noto Sans SC Black" panose="020B0200000000000000" charset="-122"/>
            </a:endParaRPr>
          </a:p>
        </p:txBody>
      </p:sp>
      <p:pic>
        <p:nvPicPr>
          <p:cNvPr id="11" name="图片 10"/>
          <p:cNvPicPr>
            <a:picLocks noChangeAspect="1"/>
          </p:cNvPicPr>
          <p:nvPr/>
        </p:nvPicPr>
        <p:blipFill>
          <a:blip r:embed="rId12"/>
          <a:stretch>
            <a:fillRect/>
          </a:stretch>
        </p:blipFill>
        <p:spPr>
          <a:xfrm>
            <a:off x="9243060" y="690880"/>
            <a:ext cx="2739390" cy="2404745"/>
          </a:xfrm>
          <a:prstGeom prst="rect">
            <a:avLst/>
          </a:prstGeom>
        </p:spPr>
      </p:pic>
      <p:sp>
        <p:nvSpPr>
          <p:cNvPr id="19" name="文本框 18"/>
          <p:cNvSpPr txBox="1"/>
          <p:nvPr/>
        </p:nvSpPr>
        <p:spPr>
          <a:xfrm>
            <a:off x="7950835" y="4008755"/>
            <a:ext cx="4359275" cy="2529205"/>
          </a:xfrm>
          <a:prstGeom prst="rect">
            <a:avLst/>
          </a:prstGeom>
          <a:noFill/>
        </p:spPr>
        <p:txBody>
          <a:bodyPr wrap="square" rtlCol="0">
            <a:noAutofit/>
          </a:bodyPr>
          <a:p>
            <a:pPr>
              <a:lnSpc>
                <a:spcPct val="150000"/>
              </a:lnSpc>
            </a:pPr>
            <a:r>
              <a:rPr lang="en-US" altLang="en-US" sz="2000" b="1">
                <a:solidFill>
                  <a:srgbClr val="C00000"/>
                </a:solidFill>
                <a:sym typeface="+mn-ea"/>
              </a:rPr>
              <a:t> </a:t>
            </a:r>
            <a:r>
              <a:rPr lang="en-US" altLang="zh-CN" sz="2000" b="1">
                <a:solidFill>
                  <a:srgbClr val="002447"/>
                </a:solidFill>
                <a:latin typeface="Noto Sans SC" panose="020B0200000000000000" charset="-122"/>
                <a:ea typeface="Noto Sans SC" panose="020B0200000000000000" charset="-122"/>
                <a:cs typeface="Noto Sans SC" panose="020B0200000000000000" charset="-122"/>
                <a:sym typeface="+mn-ea"/>
              </a:rPr>
              <a:t>Trend Expert handles  smooth periods.</a:t>
            </a:r>
            <a:endParaRPr lang="en-US" altLang="zh-CN" sz="2000" b="1">
              <a:solidFill>
                <a:srgbClr val="002447"/>
              </a:solidFill>
              <a:latin typeface="Noto Sans SC" panose="020B0200000000000000" charset="-122"/>
              <a:ea typeface="Noto Sans SC" panose="020B0200000000000000" charset="-122"/>
              <a:cs typeface="Noto Sans SC" panose="020B0200000000000000" charset="-122"/>
            </a:endParaRPr>
          </a:p>
          <a:p>
            <a:pPr>
              <a:lnSpc>
                <a:spcPct val="290000"/>
              </a:lnSpc>
            </a:pPr>
            <a:r>
              <a:rPr lang="en-US" altLang="en-US" sz="2000" b="1">
                <a:solidFill>
                  <a:srgbClr val="002447"/>
                </a:solidFill>
                <a:latin typeface="Noto Sans SC" panose="020B0200000000000000" charset="-122"/>
                <a:ea typeface="Noto Sans SC" panose="020B0200000000000000" charset="-122"/>
                <a:cs typeface="Noto Sans SC" panose="020B0200000000000000" charset="-122"/>
                <a:sym typeface="+mn-ea"/>
              </a:rPr>
              <a:t>  </a:t>
            </a:r>
            <a:r>
              <a:rPr lang="en-US" altLang="zh-CN" sz="2000" b="1">
                <a:solidFill>
                  <a:srgbClr val="002447"/>
                </a:solidFill>
                <a:latin typeface="Noto Sans SC" panose="020B0200000000000000" charset="-122"/>
                <a:ea typeface="Noto Sans SC" panose="020B0200000000000000" charset="-122"/>
                <a:cs typeface="Noto Sans SC" panose="020B0200000000000000" charset="-122"/>
                <a:sym typeface="+mn-ea"/>
              </a:rPr>
              <a:t>Volatility Expert (CNN) handles </a:t>
            </a:r>
            <a:endParaRPr lang="en-US" altLang="zh-CN" sz="2000" b="1">
              <a:solidFill>
                <a:srgbClr val="002447"/>
              </a:solidFill>
              <a:latin typeface="Noto Sans SC" panose="020B0200000000000000" charset="-122"/>
              <a:ea typeface="Noto Sans SC" panose="020B0200000000000000" charset="-122"/>
              <a:cs typeface="Noto Sans SC" panose="020B0200000000000000" charset="-122"/>
              <a:sym typeface="+mn-ea"/>
            </a:endParaRPr>
          </a:p>
          <a:p>
            <a:pPr>
              <a:lnSpc>
                <a:spcPct val="110000"/>
              </a:lnSpc>
            </a:pPr>
            <a:r>
              <a:rPr lang="en-US" altLang="zh-CN" sz="2000" b="1">
                <a:solidFill>
                  <a:srgbClr val="002447"/>
                </a:solidFill>
                <a:latin typeface="Noto Sans SC" panose="020B0200000000000000" charset="-122"/>
                <a:ea typeface="Noto Sans SC" panose="020B0200000000000000" charset="-122"/>
                <a:cs typeface="Noto Sans SC" panose="020B0200000000000000" charset="-122"/>
                <a:sym typeface="+mn-ea"/>
              </a:rPr>
              <a:t>the " Fat Tails"</a:t>
            </a:r>
            <a:r>
              <a:rPr lang="en-US" altLang="zh-CN" sz="2000">
                <a:solidFill>
                  <a:srgbClr val="C00000"/>
                </a:solidFill>
                <a:latin typeface="Noto Sans SC" panose="020B0200000000000000" charset="-122"/>
                <a:ea typeface="Noto Sans SC" panose="020B0200000000000000" charset="-122"/>
                <a:cs typeface="Noto Sans SC" panose="020B0200000000000000" charset="-122"/>
                <a:sym typeface="+mn-ea"/>
              </a:rPr>
              <a:t> </a:t>
            </a:r>
            <a:endParaRPr lang="en-US" altLang="zh-CN" sz="2000">
              <a:solidFill>
                <a:srgbClr val="C00000"/>
              </a:solidFill>
              <a:latin typeface="Noto Sans SC" panose="020B0200000000000000" charset="-122"/>
              <a:ea typeface="Noto Sans SC" panose="020B0200000000000000" charset="-122"/>
              <a:cs typeface="Noto Sans SC" panose="020B0200000000000000" charset="-122"/>
              <a:sym typeface="+mn-ea"/>
            </a:endParaRPr>
          </a:p>
          <a:p>
            <a:pPr>
              <a:lnSpc>
                <a:spcPct val="280000"/>
              </a:lnSpc>
            </a:pPr>
            <a:r>
              <a:rPr lang="en-US" altLang="zh-CN" sz="2000">
                <a:solidFill>
                  <a:srgbClr val="C00000"/>
                </a:solidFill>
                <a:latin typeface="Noto Sans SC" panose="020B0200000000000000" charset="-122"/>
                <a:ea typeface="Noto Sans SC" panose="020B0200000000000000" charset="-122"/>
                <a:cs typeface="Noto Sans SC" panose="020B0200000000000000" charset="-122"/>
                <a:sym typeface="+mn-ea"/>
              </a:rPr>
              <a:t>                                           </a:t>
            </a:r>
            <a:r>
              <a:rPr lang="en-US" altLang="zh-CN">
                <a:solidFill>
                  <a:srgbClr val="C00000"/>
                </a:solidFill>
                <a:latin typeface="Noto Sans SC" panose="020B0200000000000000" charset="-122"/>
                <a:ea typeface="Noto Sans SC" panose="020B0200000000000000" charset="-122"/>
                <a:cs typeface="Noto Sans SC" panose="020B0200000000000000" charset="-122"/>
                <a:sym typeface="+mn-ea"/>
              </a:rPr>
              <a:t>                                </a:t>
            </a:r>
            <a:endParaRPr lang="en-US" altLang="zh-CN">
              <a:solidFill>
                <a:srgbClr val="C00000"/>
              </a:solidFill>
              <a:latin typeface="Noto Sans SC" panose="020B0200000000000000" charset="-122"/>
              <a:ea typeface="Noto Sans SC" panose="020B0200000000000000" charset="-122"/>
              <a:cs typeface="Noto Sans SC" panose="020B0200000000000000" charset="-122"/>
            </a:endParaRPr>
          </a:p>
        </p:txBody>
      </p:sp>
      <p:sp>
        <p:nvSpPr>
          <p:cNvPr id="23" name="文本框 22"/>
          <p:cNvSpPr txBox="1"/>
          <p:nvPr/>
        </p:nvSpPr>
        <p:spPr>
          <a:xfrm>
            <a:off x="7092950" y="1036955"/>
            <a:ext cx="2581910" cy="755650"/>
          </a:xfrm>
          <a:prstGeom prst="rect">
            <a:avLst/>
          </a:prstGeom>
          <a:noFill/>
        </p:spPr>
        <p:txBody>
          <a:bodyPr wrap="square" rtlCol="0" anchor="t">
            <a:spAutoFit/>
          </a:bodyPr>
          <a:p>
            <a:pPr marL="0" indent="0" algn="l">
              <a:lnSpc>
                <a:spcPct val="120000"/>
              </a:lnSpc>
              <a:spcBef>
                <a:spcPct val="0"/>
              </a:spcBef>
              <a:spcAft>
                <a:spcPct val="0"/>
              </a:spcAft>
            </a:pPr>
            <a:r>
              <a:rPr lang="en-US" altLang="zh-CN" b="1">
                <a:solidFill>
                  <a:srgbClr val="002447"/>
                </a:solidFill>
                <a:latin typeface="Times New Roman" panose="02020603050405020304" charset="0"/>
                <a:ea typeface="Arial" panose="020B0604020202020204" pitchFamily="34" charset="0"/>
                <a:cs typeface="Times New Roman" panose="02020603050405020304" charset="0"/>
                <a:sym typeface="+mn-ea"/>
              </a:rPr>
              <a:t>KPSS Statistic</a:t>
            </a:r>
            <a:r>
              <a:rPr lang="zh-CN" altLang="en-US" b="1">
                <a:solidFill>
                  <a:srgbClr val="002447"/>
                </a:solidFill>
                <a:latin typeface="Times New Roman" panose="02020603050405020304" charset="0"/>
                <a:ea typeface="宋体" panose="02010600030101010101" pitchFamily="2" charset="-122"/>
                <a:cs typeface="Times New Roman" panose="02020603050405020304" charset="0"/>
                <a:sym typeface="+mn-ea"/>
              </a:rPr>
              <a:t>：</a:t>
            </a:r>
            <a:endParaRPr lang="zh-CN" altLang="en-US" b="1">
              <a:solidFill>
                <a:srgbClr val="002447"/>
              </a:solidFill>
              <a:latin typeface="Times New Roman" panose="02020603050405020304" charset="0"/>
              <a:ea typeface="宋体" panose="02010600030101010101" pitchFamily="2" charset="-122"/>
              <a:cs typeface="Times New Roman" panose="02020603050405020304" charset="0"/>
              <a:sym typeface="+mn-ea"/>
            </a:endParaRPr>
          </a:p>
          <a:p>
            <a:pPr marL="0" indent="0" algn="l">
              <a:lnSpc>
                <a:spcPct val="120000"/>
              </a:lnSpc>
              <a:spcBef>
                <a:spcPct val="0"/>
              </a:spcBef>
              <a:spcAft>
                <a:spcPct val="0"/>
              </a:spcAft>
            </a:pPr>
            <a:r>
              <a:rPr lang="zh-CN" altLang="en-US" b="1">
                <a:solidFill>
                  <a:srgbClr val="002447"/>
                </a:solidFill>
                <a:latin typeface="Times New Roman" panose="02020603050405020304" charset="0"/>
                <a:ea typeface="宋体" panose="02010600030101010101" pitchFamily="2" charset="-122"/>
                <a:cs typeface="Times New Roman" panose="02020603050405020304" charset="0"/>
                <a:sym typeface="+mn-ea"/>
              </a:rPr>
              <a:t> </a:t>
            </a:r>
            <a:r>
              <a:rPr lang="en-US" altLang="zh-CN" b="1">
                <a:solidFill>
                  <a:srgbClr val="002447"/>
                </a:solidFill>
                <a:latin typeface="Times New Roman" panose="02020603050405020304" charset="0"/>
                <a:ea typeface="宋体" panose="02010600030101010101" pitchFamily="2" charset="-122"/>
                <a:cs typeface="Times New Roman" panose="02020603050405020304" charset="0"/>
                <a:sym typeface="+mn-ea"/>
              </a:rPr>
              <a:t>     38.548</a:t>
            </a:r>
            <a:endParaRPr lang="en-US" altLang="zh-CN" b="1">
              <a:solidFill>
                <a:srgbClr val="002447"/>
              </a:solidFill>
              <a:latin typeface="Times New Roman" panose="02020603050405020304" charset="0"/>
              <a:ea typeface="宋体" panose="02010600030101010101" pitchFamily="2" charset="-122"/>
              <a:cs typeface="Times New Roman" panose="02020603050405020304" charset="0"/>
              <a:sym typeface="+mn-ea"/>
            </a:endParaRPr>
          </a:p>
        </p:txBody>
      </p:sp>
      <p:sp>
        <p:nvSpPr>
          <p:cNvPr id="24" name="文本框 23"/>
          <p:cNvSpPr txBox="1"/>
          <p:nvPr/>
        </p:nvSpPr>
        <p:spPr>
          <a:xfrm>
            <a:off x="7169150" y="2026920"/>
            <a:ext cx="2261235" cy="755650"/>
          </a:xfrm>
          <a:prstGeom prst="rect">
            <a:avLst/>
          </a:prstGeom>
          <a:noFill/>
        </p:spPr>
        <p:txBody>
          <a:bodyPr wrap="square" rtlCol="0" anchor="t">
            <a:spAutoFit/>
          </a:bodyPr>
          <a:p>
            <a:pPr marL="0" indent="0" algn="l">
              <a:lnSpc>
                <a:spcPct val="120000"/>
              </a:lnSpc>
              <a:spcBef>
                <a:spcPct val="0"/>
              </a:spcBef>
              <a:spcAft>
                <a:spcPct val="0"/>
              </a:spcAft>
            </a:pPr>
            <a:r>
              <a:rPr lang="en-US" altLang="zh-CN" b="1">
                <a:solidFill>
                  <a:srgbClr val="002447"/>
                </a:solidFill>
                <a:latin typeface="Times New Roman" panose="02020603050405020304" charset="0"/>
                <a:ea typeface="Arial" panose="020B0604020202020204" pitchFamily="34" charset="0"/>
                <a:cs typeface="Times New Roman" panose="02020603050405020304" charset="0"/>
                <a:sym typeface="+mn-ea"/>
              </a:rPr>
              <a:t>P-Value</a:t>
            </a:r>
            <a:r>
              <a:rPr lang="zh-CN" altLang="en-US" b="1">
                <a:solidFill>
                  <a:srgbClr val="002447"/>
                </a:solidFill>
                <a:latin typeface="Times New Roman" panose="02020603050405020304" charset="0"/>
                <a:ea typeface="宋体" panose="02010600030101010101" pitchFamily="2" charset="-122"/>
                <a:cs typeface="Times New Roman" panose="02020603050405020304" charset="0"/>
                <a:sym typeface="+mn-ea"/>
              </a:rPr>
              <a:t>：</a:t>
            </a:r>
            <a:endParaRPr lang="zh-CN" altLang="en-US" b="1">
              <a:solidFill>
                <a:srgbClr val="002447"/>
              </a:solidFill>
              <a:latin typeface="Times New Roman" panose="02020603050405020304" charset="0"/>
              <a:ea typeface="宋体" panose="02010600030101010101" pitchFamily="2" charset="-122"/>
              <a:cs typeface="Times New Roman" panose="02020603050405020304" charset="0"/>
              <a:sym typeface="+mn-ea"/>
            </a:endParaRPr>
          </a:p>
          <a:p>
            <a:pPr marL="0" indent="0" algn="l">
              <a:lnSpc>
                <a:spcPct val="120000"/>
              </a:lnSpc>
              <a:spcBef>
                <a:spcPct val="0"/>
              </a:spcBef>
              <a:spcAft>
                <a:spcPct val="0"/>
              </a:spcAft>
            </a:pPr>
            <a:r>
              <a:rPr lang="zh-CN" altLang="en-US" b="1">
                <a:solidFill>
                  <a:srgbClr val="002447"/>
                </a:solidFill>
                <a:latin typeface="Times New Roman" panose="02020603050405020304" charset="0"/>
                <a:ea typeface="宋体" panose="02010600030101010101" pitchFamily="2" charset="-122"/>
                <a:cs typeface="Times New Roman" panose="02020603050405020304" charset="0"/>
                <a:sym typeface="+mn-ea"/>
              </a:rPr>
              <a:t> </a:t>
            </a:r>
            <a:r>
              <a:rPr lang="en-US" altLang="zh-CN" b="1">
                <a:solidFill>
                  <a:srgbClr val="002447"/>
                </a:solidFill>
                <a:latin typeface="Times New Roman" panose="02020603050405020304" charset="0"/>
                <a:ea typeface="宋体" panose="02010600030101010101" pitchFamily="2" charset="-122"/>
                <a:cs typeface="Times New Roman" panose="02020603050405020304" charset="0"/>
                <a:sym typeface="+mn-ea"/>
              </a:rPr>
              <a:t> 0.01 &lt; 0.05</a:t>
            </a:r>
            <a:endParaRPr lang="en-US" altLang="zh-CN" b="1">
              <a:solidFill>
                <a:srgbClr val="002447"/>
              </a:solidFill>
              <a:latin typeface="Times New Roman" panose="02020603050405020304" charset="0"/>
              <a:ea typeface="宋体" panose="02010600030101010101" pitchFamily="2" charset="-122"/>
              <a:cs typeface="Times New Roman" panose="02020603050405020304" charset="0"/>
              <a:sym typeface="+mn-ea"/>
            </a:endParaRPr>
          </a:p>
        </p:txBody>
      </p:sp>
      <p:sp>
        <p:nvSpPr>
          <p:cNvPr id="25" name="文本框 24"/>
          <p:cNvSpPr txBox="1"/>
          <p:nvPr/>
        </p:nvSpPr>
        <p:spPr>
          <a:xfrm>
            <a:off x="7950835" y="3168015"/>
            <a:ext cx="4064000" cy="521970"/>
          </a:xfrm>
          <a:prstGeom prst="rect">
            <a:avLst/>
          </a:prstGeom>
          <a:noFill/>
        </p:spPr>
        <p:txBody>
          <a:bodyPr wrap="square" rtlCol="0">
            <a:spAutoFit/>
          </a:bodyPr>
          <a:p>
            <a:r>
              <a:rPr lang="en-US" altLang="zh-CN" sz="2800" b="1">
                <a:solidFill>
                  <a:schemeClr val="accent1">
                    <a:lumMod val="75000"/>
                  </a:schemeClr>
                </a:solidFill>
                <a:latin typeface="Noto Sans SC Black" panose="020B0200000000000000" charset="-122"/>
                <a:ea typeface="Noto Sans SC Black" panose="020B0200000000000000" charset="-122"/>
              </a:rPr>
              <a:t>Non-Stationary !!!</a:t>
            </a:r>
            <a:endParaRPr lang="en-US" altLang="zh-CN" sz="2800" b="1">
              <a:solidFill>
                <a:schemeClr val="accent1">
                  <a:lumMod val="75000"/>
                </a:schemeClr>
              </a:solidFill>
              <a:latin typeface="Noto Sans SC Black" panose="020B0200000000000000" charset="-122"/>
              <a:ea typeface="Noto Sans SC Black" panose="020B0200000000000000" charset="-122"/>
            </a:endParaRPr>
          </a:p>
        </p:txBody>
      </p:sp>
      <p:pic>
        <p:nvPicPr>
          <p:cNvPr id="26" name="图片 25"/>
          <p:cNvPicPr>
            <a:picLocks noChangeAspect="1"/>
          </p:cNvPicPr>
          <p:nvPr/>
        </p:nvPicPr>
        <p:blipFill>
          <a:blip r:embed="rId13"/>
          <a:srcRect r="38042"/>
          <a:stretch>
            <a:fillRect/>
          </a:stretch>
        </p:blipFill>
        <p:spPr>
          <a:xfrm>
            <a:off x="4123690" y="4209415"/>
            <a:ext cx="3827145" cy="2127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alphaModFix amt="76000"/>
          </a:blip>
          <a:stretch>
            <a:fillRect/>
          </a:stretch>
        </a:blipFill>
        <a:effectLst/>
      </p:bgPr>
    </p:bg>
    <p:spTree>
      <p:nvGrpSpPr>
        <p:cNvPr id="1" name=""/>
        <p:cNvGrpSpPr/>
        <p:nvPr/>
      </p:nvGrpSpPr>
      <p:grpSpPr/>
      <p:pic>
        <p:nvPicPr>
          <p:cNvPr id="4" name="图片 3"/>
          <p:cNvPicPr>
            <a:picLocks noChangeAspect="1"/>
          </p:cNvPicPr>
          <p:nvPr/>
        </p:nvPicPr>
        <p:blipFill>
          <a:blip r:embed="rId2"/>
          <a:stretch>
            <a:fillRect/>
          </a:stretch>
        </p:blipFill>
        <p:spPr>
          <a:xfrm>
            <a:off x="4918710" y="1709420"/>
            <a:ext cx="6979285" cy="4019550"/>
          </a:xfrm>
          <a:prstGeom prst="rect">
            <a:avLst/>
          </a:prstGeom>
        </p:spPr>
      </p:pic>
      <p:sp>
        <p:nvSpPr>
          <p:cNvPr id="5" name="文本框 4"/>
          <p:cNvSpPr txBox="1"/>
          <p:nvPr/>
        </p:nvSpPr>
        <p:spPr>
          <a:xfrm>
            <a:off x="3275965" y="406400"/>
            <a:ext cx="5639435" cy="460375"/>
          </a:xfrm>
          <a:prstGeom prst="rect">
            <a:avLst/>
          </a:prstGeom>
        </p:spPr>
        <p:txBody>
          <a:bodyPr wrap="square">
            <a:spAutoFit/>
          </a:bodyPr>
          <a:p>
            <a:r>
              <a:rPr lang="en-US" altLang="zh-CN" sz="2400">
                <a:solidFill>
                  <a:srgbClr val="900B1E"/>
                </a:solidFill>
                <a:latin typeface="Noto Sans SC Black" panose="020B0200000000000000" charset="-122"/>
                <a:ea typeface="Noto Sans SC Black" panose="020B0200000000000000" charset="-122"/>
              </a:rPr>
              <a:t>Diagnostic: High Accuracy ≠ High Profit</a:t>
            </a:r>
            <a:endParaRPr lang="en-US" altLang="zh-CN" sz="2400">
              <a:solidFill>
                <a:srgbClr val="900B1E"/>
              </a:solidFill>
              <a:latin typeface="Noto Sans SC Black" panose="020B0200000000000000" charset="-122"/>
              <a:ea typeface="Noto Sans SC Black" panose="020B0200000000000000" charset="-122"/>
            </a:endParaRPr>
          </a:p>
        </p:txBody>
      </p:sp>
      <p:sp>
        <p:nvSpPr>
          <p:cNvPr id="6" name="文本框 5"/>
          <p:cNvSpPr txBox="1"/>
          <p:nvPr/>
        </p:nvSpPr>
        <p:spPr>
          <a:xfrm>
            <a:off x="304800" y="1779270"/>
            <a:ext cx="4079875" cy="1090930"/>
          </a:xfrm>
          <a:prstGeom prst="rect">
            <a:avLst/>
          </a:prstGeom>
        </p:spPr>
        <p:txBody>
          <a:bodyPr wrap="square">
            <a:spAutoFit/>
          </a:bodyPr>
          <a:p>
            <a:pPr marL="342900" indent="-342900">
              <a:lnSpc>
                <a:spcPct val="130000"/>
              </a:lnSpc>
              <a:buFont typeface="+mj-lt"/>
              <a:buAutoNum type="arabicPeriod"/>
            </a:pPr>
            <a:r>
              <a:rPr lang="en-US" altLang="zh-CN" sz="1600">
                <a:solidFill>
                  <a:srgbClr val="900B1E"/>
                </a:solidFill>
                <a:latin typeface="Noto Sans SC" panose="020B0200000000000000" charset="-122"/>
                <a:ea typeface="Noto Sans SC" panose="020B0200000000000000" charset="-122"/>
              </a:rPr>
              <a:t>Strategy: Long-only</a:t>
            </a:r>
            <a:endParaRPr lang="en-US" altLang="zh-CN" sz="1600">
              <a:solidFill>
                <a:srgbClr val="900B1E"/>
              </a:solidFill>
              <a:latin typeface="Noto Sans SC" panose="020B0200000000000000" charset="-122"/>
              <a:ea typeface="Noto Sans SC" panose="020B0200000000000000" charset="-122"/>
            </a:endParaRPr>
          </a:p>
          <a:p>
            <a:pPr marL="342900" indent="-342900">
              <a:lnSpc>
                <a:spcPct val="130000"/>
              </a:lnSpc>
              <a:buFont typeface="+mj-lt"/>
              <a:buAutoNum type="arabicPeriod"/>
            </a:pPr>
            <a:r>
              <a:rPr lang="en-US" altLang="zh-CN" sz="1600">
                <a:solidFill>
                  <a:srgbClr val="900B1E"/>
                </a:solidFill>
                <a:latin typeface="Noto Sans SC" panose="020B0200000000000000" charset="-122"/>
                <a:ea typeface="Noto Sans SC" panose="020B0200000000000000" charset="-122"/>
              </a:rPr>
              <a:t>Transaction Costs: </a:t>
            </a:r>
            <a:r>
              <a:rPr lang="en-US" altLang="zh-CN" b="1">
                <a:solidFill>
                  <a:srgbClr val="11598B"/>
                </a:solidFill>
                <a:latin typeface="Noto Sans SC" panose="020B0200000000000000" charset="-122"/>
                <a:ea typeface="Noto Sans SC" panose="020B0200000000000000" charset="-122"/>
              </a:rPr>
              <a:t>5 bps (0.05%)</a:t>
            </a:r>
            <a:r>
              <a:rPr lang="en-US" altLang="zh-CN" sz="1600">
                <a:solidFill>
                  <a:srgbClr val="900B1E"/>
                </a:solidFill>
                <a:latin typeface="Noto Sans SC" panose="020B0200000000000000" charset="-122"/>
                <a:ea typeface="Noto Sans SC" panose="020B0200000000000000" charset="-122"/>
              </a:rPr>
              <a:t> per side, reflecting realistic trading frictions</a:t>
            </a:r>
            <a:endParaRPr lang="en-US" altLang="zh-CN" sz="1600">
              <a:solidFill>
                <a:srgbClr val="900B1E"/>
              </a:solidFill>
              <a:latin typeface="Noto Sans SC" panose="020B0200000000000000" charset="-122"/>
              <a:ea typeface="Noto Sans SC" panose="020B0200000000000000" charset="-122"/>
            </a:endParaRPr>
          </a:p>
        </p:txBody>
      </p:sp>
      <p:sp>
        <p:nvSpPr>
          <p:cNvPr id="7" name="文本框 6"/>
          <p:cNvSpPr txBox="1"/>
          <p:nvPr/>
        </p:nvSpPr>
        <p:spPr>
          <a:xfrm>
            <a:off x="266700" y="1380490"/>
            <a:ext cx="3263900" cy="398780"/>
          </a:xfrm>
          <a:prstGeom prst="rect">
            <a:avLst/>
          </a:prstGeom>
          <a:noFill/>
        </p:spPr>
        <p:txBody>
          <a:bodyPr wrap="square" rtlCol="0">
            <a:spAutoFit/>
          </a:bodyPr>
          <a:p>
            <a:r>
              <a:rPr lang="en-US" altLang="zh-CN" sz="2000" b="1">
                <a:solidFill>
                  <a:srgbClr val="900B1E"/>
                </a:solidFill>
                <a:latin typeface="Noto Sans SC Medium" panose="020B0200000000000000" charset="-122"/>
                <a:ea typeface="Noto Sans SC Medium" panose="020B0200000000000000" charset="-122"/>
              </a:rPr>
              <a:t>Setup</a:t>
            </a:r>
            <a:r>
              <a:rPr lang="zh-CN" altLang="en-US" sz="2000" b="1">
                <a:solidFill>
                  <a:srgbClr val="900B1E"/>
                </a:solidFill>
                <a:latin typeface="Noto Sans SC Medium" panose="020B0200000000000000" charset="-122"/>
                <a:ea typeface="Noto Sans SC Medium" panose="020B0200000000000000" charset="-122"/>
              </a:rPr>
              <a:t>：</a:t>
            </a:r>
            <a:endParaRPr lang="zh-CN" altLang="en-US" sz="2000" b="1">
              <a:solidFill>
                <a:srgbClr val="900B1E"/>
              </a:solidFill>
              <a:latin typeface="Noto Sans SC Medium" panose="020B0200000000000000" charset="-122"/>
              <a:ea typeface="Noto Sans SC Medium" panose="020B0200000000000000" charset="-122"/>
            </a:endParaRPr>
          </a:p>
        </p:txBody>
      </p:sp>
      <p:sp>
        <p:nvSpPr>
          <p:cNvPr id="8" name="文本框 7"/>
          <p:cNvSpPr txBox="1"/>
          <p:nvPr/>
        </p:nvSpPr>
        <p:spPr>
          <a:xfrm>
            <a:off x="635000" y="3742055"/>
            <a:ext cx="4283710" cy="2676525"/>
          </a:xfrm>
          <a:prstGeom prst="rect">
            <a:avLst/>
          </a:prstGeom>
        </p:spPr>
        <p:txBody>
          <a:bodyPr wrap="square">
            <a:spAutoFit/>
          </a:bodyPr>
          <a:p>
            <a:pPr marL="285750" indent="-285750">
              <a:lnSpc>
                <a:spcPct val="150000"/>
              </a:lnSpc>
              <a:buFont typeface="Arial" panose="020B0604020202020204" pitchFamily="34" charset="0"/>
              <a:buChar char="•"/>
            </a:pPr>
            <a:r>
              <a:rPr lang="en-US" altLang="zh-CN" sz="1600" b="1">
                <a:solidFill>
                  <a:srgbClr val="11598B"/>
                </a:solidFill>
                <a:latin typeface="Noto Sans SC DemiLight" panose="020B0200000000000000" charset="-122"/>
                <a:ea typeface="Noto Sans SC DemiLight" panose="020B0200000000000000" charset="-122"/>
              </a:rPr>
              <a:t>The Paradox: </a:t>
            </a:r>
            <a:r>
              <a:rPr lang="en-US" altLang="zh-CN" sz="1600">
                <a:solidFill>
                  <a:srgbClr val="11598B"/>
                </a:solidFill>
                <a:latin typeface="Noto Sans SC DemiLight" panose="020B0200000000000000" charset="-122"/>
                <a:ea typeface="Noto Sans SC DemiLight" panose="020B0200000000000000" charset="-122"/>
              </a:rPr>
              <a:t>achieves &gt; 50% directional accuracy, which is theoretically profitable.</a:t>
            </a:r>
            <a:endParaRPr lang="en-US" altLang="zh-CN" sz="1600">
              <a:solidFill>
                <a:srgbClr val="11598B"/>
              </a:solidFill>
              <a:latin typeface="Noto Sans SC DemiLight" panose="020B0200000000000000" charset="-122"/>
              <a:ea typeface="Noto Sans SC DemiLight" panose="020B0200000000000000" charset="-122"/>
            </a:endParaRPr>
          </a:p>
          <a:p>
            <a:pPr marL="285750" indent="-285750">
              <a:lnSpc>
                <a:spcPct val="150000"/>
              </a:lnSpc>
              <a:buFont typeface="Arial" panose="020B0604020202020204" pitchFamily="34" charset="0"/>
              <a:buChar char="•"/>
            </a:pPr>
            <a:r>
              <a:rPr lang="en-US" altLang="zh-CN" sz="1600" b="1">
                <a:solidFill>
                  <a:srgbClr val="11598B"/>
                </a:solidFill>
                <a:latin typeface="Noto Sans SC DemiLight" panose="020B0200000000000000" charset="-122"/>
                <a:ea typeface="Noto Sans SC DemiLight" panose="020B0200000000000000" charset="-122"/>
              </a:rPr>
              <a:t>The Problem:</a:t>
            </a:r>
            <a:r>
              <a:rPr lang="en-US" altLang="zh-CN" sz="1600">
                <a:solidFill>
                  <a:srgbClr val="11598B"/>
                </a:solidFill>
                <a:latin typeface="Noto Sans SC DemiLight" panose="020B0200000000000000" charset="-122"/>
                <a:ea typeface="Noto Sans SC DemiLight" panose="020B0200000000000000" charset="-122"/>
              </a:rPr>
              <a:t> Fat-tailed turnover leads to over-trading.</a:t>
            </a:r>
            <a:endParaRPr lang="en-US" altLang="zh-CN" sz="1600">
              <a:solidFill>
                <a:srgbClr val="11598B"/>
              </a:solidFill>
              <a:latin typeface="Noto Sans SC DemiLight" panose="020B0200000000000000" charset="-122"/>
              <a:ea typeface="Noto Sans SC DemiLight" panose="020B0200000000000000" charset="-122"/>
            </a:endParaRPr>
          </a:p>
          <a:p>
            <a:pPr marL="285750" indent="-285750">
              <a:lnSpc>
                <a:spcPct val="150000"/>
              </a:lnSpc>
              <a:buFont typeface="Arial" panose="020B0604020202020204" pitchFamily="34" charset="0"/>
              <a:buChar char="•"/>
            </a:pPr>
            <a:r>
              <a:rPr lang="en-US" altLang="zh-CN" sz="1600" b="1">
                <a:solidFill>
                  <a:srgbClr val="11598B"/>
                </a:solidFill>
                <a:latin typeface="Noto Sans SC DemiLight" panose="020B0200000000000000" charset="-122"/>
                <a:ea typeface="Noto Sans SC DemiLight" panose="020B0200000000000000" charset="-122"/>
              </a:rPr>
              <a:t>The Cost:</a:t>
            </a:r>
            <a:r>
              <a:rPr lang="en-US" altLang="zh-CN" sz="1600">
                <a:solidFill>
                  <a:srgbClr val="11598B"/>
                </a:solidFill>
                <a:latin typeface="Noto Sans SC DemiLight" panose="020B0200000000000000" charset="-122"/>
                <a:ea typeface="Noto Sans SC DemiLight" panose="020B0200000000000000" charset="-122"/>
              </a:rPr>
              <a:t> With 5 bps transaction costs, much of the alpha is eroded by trading friction.</a:t>
            </a:r>
            <a:endParaRPr lang="en-US" altLang="zh-CN" sz="1600">
              <a:solidFill>
                <a:srgbClr val="11598B"/>
              </a:solidFill>
              <a:latin typeface="Noto Sans SC DemiLight" panose="020B0200000000000000" charset="-122"/>
              <a:ea typeface="Noto Sans SC DemiLight" panose="020B0200000000000000" charset="-122"/>
            </a:endParaRPr>
          </a:p>
        </p:txBody>
      </p:sp>
      <p:sp>
        <p:nvSpPr>
          <p:cNvPr id="9" name="文本框 8"/>
          <p:cNvSpPr txBox="1"/>
          <p:nvPr/>
        </p:nvSpPr>
        <p:spPr>
          <a:xfrm>
            <a:off x="285750" y="3404553"/>
            <a:ext cx="5080000" cy="337185"/>
          </a:xfrm>
          <a:prstGeom prst="rect">
            <a:avLst/>
          </a:prstGeom>
        </p:spPr>
        <p:txBody>
          <a:bodyPr>
            <a:spAutoFit/>
          </a:bodyPr>
          <a:p>
            <a:r>
              <a:rPr lang="en-US" altLang="zh-CN" sz="1600" b="1">
                <a:solidFill>
                  <a:srgbClr val="11598B"/>
                </a:solidFill>
                <a:latin typeface="Noto Sans SC" panose="020B0200000000000000" charset="-122"/>
                <a:ea typeface="Noto Sans SC" panose="020B0200000000000000" charset="-122"/>
              </a:rPr>
              <a:t>KEY INSIGHTS FROM TRADING BEHAVIOR:</a:t>
            </a:r>
            <a:endParaRPr lang="en-US" altLang="zh-CN" sz="1600" b="1">
              <a:solidFill>
                <a:srgbClr val="11598B"/>
              </a:solidFill>
              <a:latin typeface="Noto Sans SC" panose="020B0200000000000000" charset="-122"/>
              <a:ea typeface="Noto Sans SC" panose="020B0200000000000000" charset="-122"/>
            </a:endParaRPr>
          </a:p>
        </p:txBody>
      </p:sp>
      <p:cxnSp>
        <p:nvCxnSpPr>
          <p:cNvPr id="11" name="直接箭头连接符 10"/>
          <p:cNvCxnSpPr/>
          <p:nvPr/>
        </p:nvCxnSpPr>
        <p:spPr>
          <a:xfrm flipV="1">
            <a:off x="9333230" y="5640070"/>
            <a:ext cx="0" cy="419100"/>
          </a:xfrm>
          <a:prstGeom prst="straightConnector1">
            <a:avLst/>
          </a:prstGeom>
          <a:ln>
            <a:solidFill>
              <a:srgbClr val="900B1E"/>
            </a:solidFill>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8198485" y="5994400"/>
            <a:ext cx="3562985" cy="737235"/>
          </a:xfrm>
          <a:prstGeom prst="rect">
            <a:avLst/>
          </a:prstGeom>
        </p:spPr>
        <p:txBody>
          <a:bodyPr wrap="square">
            <a:spAutoFit/>
          </a:bodyPr>
          <a:p>
            <a:r>
              <a:rPr lang="en-US" altLang="zh-CN" sz="1400">
                <a:solidFill>
                  <a:srgbClr val="900B1E"/>
                </a:solidFill>
                <a:latin typeface="Noto Sans SC Light" panose="020B0200000000000000" charset="-122"/>
                <a:ea typeface="Noto Sans SC Light" panose="020B0200000000000000" charset="-122"/>
              </a:rPr>
              <a:t>Costs are concentrated in periods where the model identifies a clear, profitable opportunity.</a:t>
            </a:r>
            <a:endParaRPr lang="en-US" altLang="zh-CN" sz="1400">
              <a:solidFill>
                <a:srgbClr val="900B1E"/>
              </a:solidFill>
              <a:latin typeface="Noto Sans SC Light" panose="020B0200000000000000" charset="-122"/>
              <a:ea typeface="Noto Sans SC Light"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alphaModFix amt="81000"/>
          </a:blip>
          <a:stretch>
            <a:fillRect/>
          </a:stretch>
        </a:blipFill>
        <a:effectLst/>
      </p:bgPr>
    </p:bg>
    <p:spTree>
      <p:nvGrpSpPr>
        <p:cNvPr id="1" name=""/>
        <p:cNvGrpSpPr/>
        <p:nvPr/>
      </p:nvGrpSpPr>
      <p:grpSpPr/>
      <p:sp>
        <p:nvSpPr>
          <p:cNvPr id="14" name="文本框 13"/>
          <p:cNvSpPr txBox="1"/>
          <p:nvPr/>
        </p:nvSpPr>
        <p:spPr>
          <a:xfrm>
            <a:off x="2464435" y="527050"/>
            <a:ext cx="8211820" cy="521970"/>
          </a:xfrm>
          <a:prstGeom prst="rect">
            <a:avLst/>
          </a:prstGeom>
          <a:noFill/>
        </p:spPr>
        <p:txBody>
          <a:bodyPr wrap="square" rtlCol="0" anchor="t">
            <a:spAutoFit/>
          </a:bodyPr>
          <a:p>
            <a:r>
              <a:rPr lang="en-US" altLang="zh-CN" sz="2800">
                <a:solidFill>
                  <a:schemeClr val="accent1">
                    <a:lumMod val="75000"/>
                  </a:schemeClr>
                </a:solidFill>
                <a:latin typeface="Noto Sans SC Black" panose="020B0200000000000000" charset="-122"/>
                <a:ea typeface="Noto Sans SC Black" panose="020B0200000000000000" charset="-122"/>
              </a:rPr>
              <a:t>Execution Methodology :  MoE-Driven Risk Control</a:t>
            </a:r>
            <a:endParaRPr lang="en-US" altLang="zh-CN" sz="2800">
              <a:solidFill>
                <a:schemeClr val="accent1">
                  <a:lumMod val="75000"/>
                </a:schemeClr>
              </a:solidFill>
              <a:latin typeface="Noto Sans SC Black" panose="020B0200000000000000" charset="-122"/>
              <a:ea typeface="Noto Sans SC Black" panose="020B0200000000000000" charset="-122"/>
            </a:endParaRPr>
          </a:p>
        </p:txBody>
      </p:sp>
      <p:pic>
        <p:nvPicPr>
          <p:cNvPr id="15" name="图片 14"/>
          <p:cNvPicPr>
            <a:picLocks noChangeAspect="1"/>
          </p:cNvPicPr>
          <p:nvPr/>
        </p:nvPicPr>
        <p:blipFill>
          <a:blip r:embed="rId2"/>
          <a:stretch>
            <a:fillRect/>
          </a:stretch>
        </p:blipFill>
        <p:spPr>
          <a:xfrm>
            <a:off x="3869690" y="1170305"/>
            <a:ext cx="4547870" cy="369570"/>
          </a:xfrm>
          <a:prstGeom prst="rect">
            <a:avLst/>
          </a:prstGeom>
        </p:spPr>
      </p:pic>
      <p:sp>
        <p:nvSpPr>
          <p:cNvPr id="17" name="文本框 16"/>
          <p:cNvSpPr txBox="1"/>
          <p:nvPr/>
        </p:nvSpPr>
        <p:spPr>
          <a:xfrm>
            <a:off x="262255" y="1735455"/>
            <a:ext cx="1313815" cy="922020"/>
          </a:xfrm>
          <a:prstGeom prst="rect">
            <a:avLst/>
          </a:prstGeom>
          <a:noFill/>
        </p:spPr>
        <p:txBody>
          <a:bodyPr wrap="square" rtlCol="0">
            <a:spAutoFit/>
          </a:bodyPr>
          <a:p>
            <a:r>
              <a:rPr lang="en-US" altLang="zh-CN" b="1">
                <a:latin typeface="Noto Sans SC" panose="020B0200000000000000" charset="-122"/>
                <a:ea typeface="Noto Sans SC" panose="020B0200000000000000" charset="-122"/>
                <a:cs typeface="Noto Sans SC" panose="020B0200000000000000" charset="-122"/>
              </a:rPr>
              <a:t>  Input</a:t>
            </a:r>
            <a:r>
              <a:rPr lang="zh-CN" altLang="en-US" b="1">
                <a:latin typeface="Noto Sans SC" panose="020B0200000000000000" charset="-122"/>
                <a:ea typeface="Noto Sans SC" panose="020B0200000000000000" charset="-122"/>
                <a:cs typeface="Noto Sans SC" panose="020B0200000000000000" charset="-122"/>
              </a:rPr>
              <a:t>：</a:t>
            </a:r>
            <a:endParaRPr lang="zh-CN" altLang="en-US" b="1">
              <a:latin typeface="Noto Sans SC" panose="020B0200000000000000" charset="-122"/>
              <a:ea typeface="Noto Sans SC" panose="020B0200000000000000" charset="-122"/>
              <a:cs typeface="Noto Sans SC" panose="020B0200000000000000" charset="-122"/>
            </a:endParaRPr>
          </a:p>
          <a:p>
            <a:r>
              <a:rPr lang="en-US" altLang="zh-CN">
                <a:latin typeface="Noto Sans SC" panose="020B0200000000000000" charset="-122"/>
                <a:ea typeface="Noto Sans SC" panose="020B0200000000000000" charset="-122"/>
              </a:rPr>
              <a:t>  Model</a:t>
            </a:r>
            <a:endParaRPr lang="en-US" altLang="zh-CN">
              <a:latin typeface="Noto Sans SC" panose="020B0200000000000000" charset="-122"/>
              <a:ea typeface="Noto Sans SC" panose="020B0200000000000000" charset="-122"/>
            </a:endParaRPr>
          </a:p>
          <a:p>
            <a:r>
              <a:rPr lang="en-US" altLang="zh-CN">
                <a:latin typeface="Noto Sans SC" panose="020B0200000000000000" charset="-122"/>
                <a:ea typeface="Noto Sans SC" panose="020B0200000000000000" charset="-122"/>
              </a:rPr>
              <a:t>Prediction</a:t>
            </a:r>
            <a:endParaRPr lang="en-US" altLang="zh-CN">
              <a:latin typeface="Noto Sans SC" panose="020B0200000000000000" charset="-122"/>
              <a:ea typeface="Noto Sans SC" panose="020B0200000000000000" charset="-122"/>
            </a:endParaRPr>
          </a:p>
        </p:txBody>
      </p:sp>
      <p:cxnSp>
        <p:nvCxnSpPr>
          <p:cNvPr id="20" name="直接箭头连接符 19"/>
          <p:cNvCxnSpPr/>
          <p:nvPr>
            <p:custDataLst>
              <p:tags r:id="rId3"/>
            </p:custDataLst>
          </p:nvPr>
        </p:nvCxnSpPr>
        <p:spPr>
          <a:xfrm>
            <a:off x="1195070" y="2192020"/>
            <a:ext cx="692785" cy="444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21" name="圆角矩形 20"/>
          <p:cNvSpPr/>
          <p:nvPr>
            <p:custDataLst>
              <p:tags r:id="rId4"/>
            </p:custDataLst>
          </p:nvPr>
        </p:nvSpPr>
        <p:spPr>
          <a:xfrm>
            <a:off x="1870710" y="1778635"/>
            <a:ext cx="1939290" cy="913765"/>
          </a:xfrm>
          <a:prstGeom prst="roundRect">
            <a:avLst/>
          </a:prstGeom>
          <a:solidFill>
            <a:srgbClr val="6B717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000" b="1">
                <a:latin typeface="Noto Sans SC" panose="020B0200000000000000" charset="-122"/>
                <a:ea typeface="Noto Sans SC" panose="020B0200000000000000" charset="-122"/>
              </a:rPr>
              <a:t>Signal Gate</a:t>
            </a:r>
            <a:endParaRPr lang="en-US" altLang="zh-CN" sz="2000" b="1">
              <a:latin typeface="Noto Sans SC" panose="020B0200000000000000" charset="-122"/>
              <a:ea typeface="Noto Sans SC" panose="020B0200000000000000" charset="-122"/>
            </a:endParaRPr>
          </a:p>
        </p:txBody>
      </p:sp>
      <p:cxnSp>
        <p:nvCxnSpPr>
          <p:cNvPr id="22" name="直接箭头连接符 21"/>
          <p:cNvCxnSpPr/>
          <p:nvPr>
            <p:custDataLst>
              <p:tags r:id="rId5"/>
            </p:custDataLst>
          </p:nvPr>
        </p:nvCxnSpPr>
        <p:spPr>
          <a:xfrm>
            <a:off x="3810000" y="2200910"/>
            <a:ext cx="692785" cy="444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23" name="圆角矩形 22"/>
          <p:cNvSpPr/>
          <p:nvPr>
            <p:custDataLst>
              <p:tags r:id="rId6"/>
            </p:custDataLst>
          </p:nvPr>
        </p:nvSpPr>
        <p:spPr>
          <a:xfrm>
            <a:off x="4502785" y="1778635"/>
            <a:ext cx="1956435" cy="913130"/>
          </a:xfrm>
          <a:prstGeom prst="roundRect">
            <a:avLst/>
          </a:prstGeom>
          <a:solidFill>
            <a:srgbClr val="6B717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000" b="1">
                <a:latin typeface="Noto Sans SC" panose="020B0200000000000000" charset="-122"/>
                <a:ea typeface="Noto Sans SC" panose="020B0200000000000000" charset="-122"/>
              </a:rPr>
              <a:t>Trend Filter</a:t>
            </a:r>
            <a:endParaRPr lang="en-US" altLang="zh-CN" sz="2000" b="1">
              <a:latin typeface="Noto Sans SC" panose="020B0200000000000000" charset="-122"/>
              <a:ea typeface="Noto Sans SC" panose="020B0200000000000000" charset="-122"/>
            </a:endParaRPr>
          </a:p>
        </p:txBody>
      </p:sp>
      <p:cxnSp>
        <p:nvCxnSpPr>
          <p:cNvPr id="25" name="直接箭头连接符 24"/>
          <p:cNvCxnSpPr/>
          <p:nvPr>
            <p:custDataLst>
              <p:tags r:id="rId7"/>
            </p:custDataLst>
          </p:nvPr>
        </p:nvCxnSpPr>
        <p:spPr>
          <a:xfrm>
            <a:off x="6459220" y="2242185"/>
            <a:ext cx="692785" cy="444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26" name="圆角矩形 25"/>
          <p:cNvSpPr/>
          <p:nvPr>
            <p:custDataLst>
              <p:tags r:id="rId8"/>
            </p:custDataLst>
          </p:nvPr>
        </p:nvSpPr>
        <p:spPr>
          <a:xfrm>
            <a:off x="7152005" y="1640205"/>
            <a:ext cx="2802255" cy="1193800"/>
          </a:xfrm>
          <a:prstGeom prst="roundRect">
            <a:avLst/>
          </a:prstGeom>
          <a:solidFill>
            <a:schemeClr val="accent1">
              <a:lumMod val="75000"/>
            </a:schemeClr>
          </a:solidFill>
        </p:spPr>
        <p:style>
          <a:lnRef idx="0">
            <a:srgbClr val="FFFFFF"/>
          </a:lnRef>
          <a:fillRef idx="1">
            <a:schemeClr val="accent1"/>
          </a:fillRef>
          <a:effectRef idx="0">
            <a:srgbClr val="FFFFFF"/>
          </a:effectRef>
          <a:fontRef idx="minor">
            <a:schemeClr val="lt1"/>
          </a:fontRef>
        </p:style>
        <p:txBody>
          <a:bodyPr rtlCol="0" anchor="ctr"/>
          <a:p>
            <a:pPr algn="ctr"/>
            <a:r>
              <a:rPr lang="en-US" altLang="zh-CN" sz="2400" b="1">
                <a:latin typeface="Noto Sans SC" panose="020B0200000000000000" charset="-122"/>
                <a:ea typeface="Noto Sans SC" panose="020B0200000000000000" charset="-122"/>
              </a:rPr>
              <a:t>Confidence Gate</a:t>
            </a:r>
            <a:endParaRPr lang="en-US" altLang="zh-CN" sz="2400" b="1">
              <a:latin typeface="Noto Sans SC" panose="020B0200000000000000" charset="-122"/>
              <a:ea typeface="Noto Sans SC" panose="020B0200000000000000" charset="-122"/>
            </a:endParaRPr>
          </a:p>
          <a:p>
            <a:pPr algn="ctr"/>
            <a:r>
              <a:rPr lang="en-US" altLang="zh-CN" sz="2400" b="1">
                <a:latin typeface="Noto Sans SC" panose="020B0200000000000000" charset="-122"/>
                <a:ea typeface="Noto Sans SC" panose="020B0200000000000000" charset="-122"/>
              </a:rPr>
              <a:t>+</a:t>
            </a:r>
            <a:endParaRPr lang="en-US" altLang="zh-CN" sz="2400" b="1">
              <a:latin typeface="Noto Sans SC" panose="020B0200000000000000" charset="-122"/>
              <a:ea typeface="Noto Sans SC" panose="020B0200000000000000" charset="-122"/>
            </a:endParaRPr>
          </a:p>
          <a:p>
            <a:pPr algn="ctr"/>
            <a:r>
              <a:rPr lang="en-US" altLang="zh-CN" sz="2400" b="1">
                <a:latin typeface="Noto Sans SC" panose="020B0200000000000000" charset="-122"/>
                <a:ea typeface="Noto Sans SC" panose="020B0200000000000000" charset="-122"/>
              </a:rPr>
              <a:t>Trend Filter</a:t>
            </a:r>
            <a:endParaRPr lang="en-US" altLang="zh-CN" sz="2400" b="1">
              <a:latin typeface="Noto Sans SC" panose="020B0200000000000000" charset="-122"/>
              <a:ea typeface="Noto Sans SC" panose="020B0200000000000000" charset="-122"/>
            </a:endParaRPr>
          </a:p>
        </p:txBody>
      </p:sp>
      <p:cxnSp>
        <p:nvCxnSpPr>
          <p:cNvPr id="27" name="直接箭头连接符 26"/>
          <p:cNvCxnSpPr/>
          <p:nvPr>
            <p:custDataLst>
              <p:tags r:id="rId9"/>
            </p:custDataLst>
          </p:nvPr>
        </p:nvCxnSpPr>
        <p:spPr>
          <a:xfrm>
            <a:off x="9979660" y="2237740"/>
            <a:ext cx="692785" cy="444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10647045" y="1778635"/>
            <a:ext cx="1313815" cy="922020"/>
          </a:xfrm>
          <a:prstGeom prst="rect">
            <a:avLst/>
          </a:prstGeom>
          <a:noFill/>
        </p:spPr>
        <p:txBody>
          <a:bodyPr wrap="square" rtlCol="0">
            <a:spAutoFit/>
          </a:bodyPr>
          <a:p>
            <a:r>
              <a:rPr lang="en-US" altLang="zh-CN" b="1">
                <a:latin typeface="Noto Sans SC" panose="020B0200000000000000" charset="-122"/>
                <a:ea typeface="Noto Sans SC" panose="020B0200000000000000" charset="-122"/>
                <a:cs typeface="Noto Sans SC" panose="020B0200000000000000" charset="-122"/>
              </a:rPr>
              <a:t>  Output</a:t>
            </a:r>
            <a:r>
              <a:rPr lang="zh-CN" altLang="en-US" b="1">
                <a:latin typeface="Noto Sans SC" panose="020B0200000000000000" charset="-122"/>
                <a:ea typeface="Noto Sans SC" panose="020B0200000000000000" charset="-122"/>
                <a:cs typeface="Noto Sans SC" panose="020B0200000000000000" charset="-122"/>
              </a:rPr>
              <a:t>：</a:t>
            </a:r>
            <a:endParaRPr lang="zh-CN" altLang="en-US" b="1">
              <a:latin typeface="Noto Sans SC" panose="020B0200000000000000" charset="-122"/>
              <a:ea typeface="Noto Sans SC" panose="020B0200000000000000" charset="-122"/>
              <a:cs typeface="Noto Sans SC" panose="020B0200000000000000" charset="-122"/>
            </a:endParaRPr>
          </a:p>
          <a:p>
            <a:r>
              <a:rPr lang="en-US" altLang="zh-CN">
                <a:latin typeface="Noto Sans SC" panose="020B0200000000000000" charset="-122"/>
                <a:ea typeface="Noto Sans SC" panose="020B0200000000000000" charset="-122"/>
              </a:rPr>
              <a:t>   Trade    </a:t>
            </a:r>
            <a:endParaRPr lang="en-US" altLang="zh-CN">
              <a:latin typeface="Noto Sans SC" panose="020B0200000000000000" charset="-122"/>
              <a:ea typeface="Noto Sans SC" panose="020B0200000000000000" charset="-122"/>
            </a:endParaRPr>
          </a:p>
          <a:p>
            <a:r>
              <a:rPr lang="en-US" altLang="zh-CN">
                <a:latin typeface="Noto Sans SC" panose="020B0200000000000000" charset="-122"/>
                <a:ea typeface="Noto Sans SC" panose="020B0200000000000000" charset="-122"/>
              </a:rPr>
              <a:t> Decision</a:t>
            </a:r>
            <a:endParaRPr lang="en-US" altLang="zh-CN">
              <a:latin typeface="Noto Sans SC" panose="020B0200000000000000" charset="-122"/>
              <a:ea typeface="Noto Sans SC" panose="020B0200000000000000" charset="-122"/>
            </a:endParaRPr>
          </a:p>
        </p:txBody>
      </p:sp>
      <p:sp>
        <p:nvSpPr>
          <p:cNvPr id="29" name="文本框 28"/>
          <p:cNvSpPr txBox="1"/>
          <p:nvPr/>
        </p:nvSpPr>
        <p:spPr>
          <a:xfrm>
            <a:off x="236855" y="3399790"/>
            <a:ext cx="3505835" cy="2456815"/>
          </a:xfrm>
          <a:prstGeom prst="rect">
            <a:avLst/>
          </a:prstGeom>
        </p:spPr>
        <p:txBody>
          <a:bodyPr wrap="square">
            <a:spAutoFit/>
          </a:bodyPr>
          <a:p>
            <a:pPr>
              <a:spcAft>
                <a:spcPct val="60000"/>
              </a:spcAft>
            </a:pPr>
            <a:r>
              <a:rPr lang="en-US" altLang="zh-CN" sz="2200" b="1">
                <a:latin typeface="Noto Sans SC" panose="020B0200000000000000" charset="-122"/>
                <a:ea typeface="Noto Sans SC" panose="020B0200000000000000" charset="-122"/>
              </a:rPr>
              <a:t>1. Signal Gate</a:t>
            </a:r>
            <a:endParaRPr lang="en-US" altLang="zh-CN" sz="2200" b="1">
              <a:latin typeface="Noto Sans SC" panose="020B0200000000000000" charset="-122"/>
              <a:ea typeface="Noto Sans SC" panose="020B0200000000000000" charset="-122"/>
            </a:endParaRPr>
          </a:p>
          <a:p>
            <a:pPr>
              <a:lnSpc>
                <a:spcPct val="170000"/>
              </a:lnSpc>
            </a:pPr>
            <a:r>
              <a:rPr lang="en-US" altLang="zh-CN" sz="1600">
                <a:latin typeface="Noto Sans SC" panose="020B0200000000000000" charset="-122"/>
                <a:ea typeface="Noto Sans SC" panose="020B0200000000000000" charset="-122"/>
              </a:rPr>
              <a:t>Trade only when the predicted return exceeds a minimum threshold.</a:t>
            </a:r>
            <a:endParaRPr lang="en-US" altLang="zh-CN" sz="1600">
              <a:latin typeface="Noto Sans SC" panose="020B0200000000000000" charset="-122"/>
              <a:ea typeface="Noto Sans SC" panose="020B0200000000000000" charset="-122"/>
            </a:endParaRPr>
          </a:p>
          <a:p>
            <a:pPr>
              <a:lnSpc>
                <a:spcPct val="180000"/>
              </a:lnSpc>
            </a:pPr>
            <a:r>
              <a:rPr lang="en-US" altLang="zh-CN" sz="1600" b="1">
                <a:latin typeface="Noto Sans SC" panose="020B0200000000000000" charset="-122"/>
                <a:ea typeface="Noto Sans SC" panose="020B0200000000000000" charset="-122"/>
              </a:rPr>
              <a:t>Purpose: </a:t>
            </a:r>
            <a:r>
              <a:rPr lang="en-US" altLang="zh-CN" sz="1600">
                <a:latin typeface="Noto Sans SC" panose="020B0200000000000000" charset="-122"/>
                <a:ea typeface="Noto Sans SC" panose="020B0200000000000000" charset="-122"/>
              </a:rPr>
              <a:t>Filters out low-conviction signals and reduces noise trading.</a:t>
            </a:r>
            <a:endParaRPr lang="en-US" altLang="zh-CN" sz="1600">
              <a:latin typeface="Noto Sans SC" panose="020B0200000000000000" charset="-122"/>
              <a:ea typeface="Noto Sans SC" panose="020B0200000000000000" charset="-122"/>
            </a:endParaRPr>
          </a:p>
        </p:txBody>
      </p:sp>
      <p:sp>
        <p:nvSpPr>
          <p:cNvPr id="30" name="文本框 29"/>
          <p:cNvSpPr txBox="1"/>
          <p:nvPr/>
        </p:nvSpPr>
        <p:spPr>
          <a:xfrm>
            <a:off x="3742690" y="3388995"/>
            <a:ext cx="3141980" cy="2581275"/>
          </a:xfrm>
          <a:prstGeom prst="rect">
            <a:avLst/>
          </a:prstGeom>
        </p:spPr>
        <p:txBody>
          <a:bodyPr wrap="square">
            <a:spAutoFit/>
          </a:bodyPr>
          <a:p>
            <a:pPr>
              <a:spcAft>
                <a:spcPct val="60000"/>
              </a:spcAft>
            </a:pPr>
            <a:r>
              <a:rPr lang="en-US" altLang="zh-CN" sz="2200" b="1">
                <a:latin typeface="Noto Sans SC" panose="020B0200000000000000" charset="-122"/>
                <a:ea typeface="Noto Sans SC" panose="020B0200000000000000" charset="-122"/>
              </a:rPr>
              <a:t>2. Trend Filter</a:t>
            </a:r>
            <a:endParaRPr lang="en-US" altLang="zh-CN" sz="2200" b="1">
              <a:latin typeface="Noto Sans SC" panose="020B0200000000000000" charset="-122"/>
              <a:ea typeface="Noto Sans SC" panose="020B0200000000000000" charset="-122"/>
            </a:endParaRPr>
          </a:p>
          <a:p>
            <a:pPr>
              <a:lnSpc>
                <a:spcPct val="150000"/>
              </a:lnSpc>
            </a:pPr>
            <a:r>
              <a:rPr lang="en-US" altLang="zh-CN" sz="1600">
                <a:latin typeface="Noto Sans SC" panose="020B0200000000000000" charset="-122"/>
                <a:ea typeface="Noto Sans SC" panose="020B0200000000000000" charset="-122"/>
              </a:rPr>
              <a:t>Trade only when the price is above the long-term moving average.</a:t>
            </a:r>
            <a:endParaRPr lang="en-US" altLang="zh-CN" sz="1600">
              <a:latin typeface="Noto Sans SC" panose="020B0200000000000000" charset="-122"/>
              <a:ea typeface="Noto Sans SC" panose="020B0200000000000000" charset="-122"/>
            </a:endParaRPr>
          </a:p>
          <a:p>
            <a:pPr>
              <a:lnSpc>
                <a:spcPct val="150000"/>
              </a:lnSpc>
            </a:pPr>
            <a:r>
              <a:rPr lang="en-US" altLang="zh-CN" sz="1600" b="1">
                <a:latin typeface="Noto Sans SC" panose="020B0200000000000000" charset="-122"/>
                <a:ea typeface="Noto Sans SC" panose="020B0200000000000000" charset="-122"/>
              </a:rPr>
              <a:t>Purpose: </a:t>
            </a:r>
            <a:r>
              <a:rPr lang="en-US" altLang="zh-CN" sz="1600">
                <a:latin typeface="Noto Sans SC" panose="020B0200000000000000" charset="-122"/>
                <a:ea typeface="Noto Sans SC" panose="020B0200000000000000" charset="-122"/>
              </a:rPr>
              <a:t>Aligns trades with the dominant market trend.</a:t>
            </a:r>
            <a:endParaRPr lang="en-US" altLang="zh-CN" sz="1600">
              <a:latin typeface="Noto Sans SC" panose="020B0200000000000000" charset="-122"/>
              <a:ea typeface="Noto Sans SC" panose="020B0200000000000000" charset="-122"/>
            </a:endParaRPr>
          </a:p>
        </p:txBody>
      </p:sp>
      <p:sp>
        <p:nvSpPr>
          <p:cNvPr id="31" name="圆角矩形 30"/>
          <p:cNvSpPr/>
          <p:nvPr/>
        </p:nvSpPr>
        <p:spPr>
          <a:xfrm>
            <a:off x="6650355" y="3388995"/>
            <a:ext cx="76200" cy="27247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文本框 32"/>
          <p:cNvSpPr txBox="1"/>
          <p:nvPr/>
        </p:nvSpPr>
        <p:spPr>
          <a:xfrm>
            <a:off x="7112000" y="3382963"/>
            <a:ext cx="5080000" cy="2604135"/>
          </a:xfrm>
          <a:prstGeom prst="rect">
            <a:avLst/>
          </a:prstGeom>
        </p:spPr>
        <p:txBody>
          <a:bodyPr>
            <a:spAutoFit/>
          </a:bodyPr>
          <a:p>
            <a:pPr>
              <a:spcAft>
                <a:spcPct val="60000"/>
              </a:spcAft>
            </a:pPr>
            <a:r>
              <a:rPr lang="en-US" altLang="zh-CN" sz="2200" b="1">
                <a:latin typeface="Noto Sans SC" panose="020B0200000000000000" charset="-122"/>
                <a:ea typeface="Noto Sans SC" panose="020B0200000000000000" charset="-122"/>
              </a:rPr>
              <a:t>Confidence Gate </a:t>
            </a:r>
            <a:r>
              <a:rPr lang="en-US" altLang="zh-CN" sz="2200" b="1">
                <a:solidFill>
                  <a:srgbClr val="002447"/>
                </a:solidFill>
                <a:latin typeface="Noto Sans SC" panose="020B0200000000000000" charset="-122"/>
                <a:ea typeface="Noto Sans SC" panose="020B0200000000000000" charset="-122"/>
              </a:rPr>
              <a:t>(Core Innovation)</a:t>
            </a:r>
            <a:endParaRPr lang="en-US" altLang="zh-CN" sz="2200" b="1">
              <a:solidFill>
                <a:srgbClr val="002447"/>
              </a:solidFill>
              <a:latin typeface="Noto Sans SC" panose="020B0200000000000000" charset="-122"/>
              <a:ea typeface="Noto Sans SC" panose="020B0200000000000000" charset="-122"/>
            </a:endParaRPr>
          </a:p>
          <a:p>
            <a:pPr>
              <a:lnSpc>
                <a:spcPct val="190000"/>
              </a:lnSpc>
            </a:pPr>
            <a:r>
              <a:rPr lang="en-US" altLang="zh-CN" sz="1600">
                <a:latin typeface="Noto Sans SC" panose="020B0200000000000000" charset="-122"/>
                <a:ea typeface="Noto Sans SC" panose="020B0200000000000000" charset="-122"/>
              </a:rPr>
              <a:t>Overrides trades when model-implied volatility risk is high, automatically shifting to cash.</a:t>
            </a:r>
            <a:endParaRPr lang="en-US" altLang="zh-CN" sz="1600">
              <a:latin typeface="Noto Sans SC" panose="020B0200000000000000" charset="-122"/>
              <a:ea typeface="Noto Sans SC" panose="020B0200000000000000" charset="-122"/>
            </a:endParaRPr>
          </a:p>
          <a:p>
            <a:pPr>
              <a:lnSpc>
                <a:spcPct val="190000"/>
              </a:lnSpc>
            </a:pPr>
            <a:r>
              <a:rPr lang="en-US" altLang="zh-CN" sz="1600" b="1">
                <a:latin typeface="Noto Sans SC" panose="020B0200000000000000" charset="-122"/>
                <a:ea typeface="Noto Sans SC" panose="020B0200000000000000" charset="-122"/>
              </a:rPr>
              <a:t>Purpose: </a:t>
            </a:r>
            <a:r>
              <a:rPr lang="en-US" altLang="zh-CN" sz="1600">
                <a:latin typeface="Noto Sans SC" panose="020B0200000000000000" charset="-122"/>
                <a:ea typeface="Noto Sans SC" panose="020B0200000000000000" charset="-122"/>
              </a:rPr>
              <a:t>Prevents trading in high-uncertainty regimes and protects capital.</a:t>
            </a:r>
            <a:endParaRPr lang="en-US" altLang="zh-CN" sz="1600">
              <a:latin typeface="Noto Sans SC" panose="020B0200000000000000" charset="-122"/>
              <a:ea typeface="Noto Sans SC" panose="020B0200000000000000" charset="-122"/>
            </a:endParaRPr>
          </a:p>
        </p:txBody>
      </p:sp>
      <p:pic>
        <p:nvPicPr>
          <p:cNvPr id="36" name="图片 35"/>
          <p:cNvPicPr>
            <a:picLocks noChangeAspect="1"/>
          </p:cNvPicPr>
          <p:nvPr/>
        </p:nvPicPr>
        <p:blipFill>
          <a:blip r:embed="rId10"/>
          <a:stretch>
            <a:fillRect/>
          </a:stretch>
        </p:blipFill>
        <p:spPr>
          <a:xfrm>
            <a:off x="147955" y="3221990"/>
            <a:ext cx="6463030" cy="2927350"/>
          </a:xfrm>
          <a:prstGeom prst="rect">
            <a:avLst/>
          </a:prstGeom>
        </p:spPr>
      </p:pic>
      <p:sp>
        <p:nvSpPr>
          <p:cNvPr id="38" name="矩形 37"/>
          <p:cNvSpPr/>
          <p:nvPr/>
        </p:nvSpPr>
        <p:spPr>
          <a:xfrm>
            <a:off x="2105025" y="3200400"/>
            <a:ext cx="1498600" cy="2952750"/>
          </a:xfrm>
          <a:prstGeom prst="rect">
            <a:avLst/>
          </a:prstGeom>
          <a:solidFill>
            <a:schemeClr val="bg1">
              <a:lumMod val="65000"/>
              <a:alpha val="28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4688840" y="6295708"/>
            <a:ext cx="5080000" cy="368300"/>
          </a:xfrm>
          <a:prstGeom prst="rect">
            <a:avLst/>
          </a:prstGeom>
        </p:spPr>
        <p:txBody>
          <a:bodyPr>
            <a:spAutoFit/>
          </a:bodyPr>
          <a:p>
            <a:r>
              <a:rPr lang="en-US" altLang="zh-CN">
                <a:solidFill>
                  <a:schemeClr val="accent1">
                    <a:lumMod val="75000"/>
                  </a:schemeClr>
                </a:solidFill>
                <a:latin typeface="Noto Sans SC" panose="020B0200000000000000" charset="-122"/>
                <a:ea typeface="Noto Sans SC" panose="020B0200000000000000" charset="-122"/>
              </a:rPr>
              <a:t>Activating the Confidence Gate</a:t>
            </a:r>
            <a:endParaRPr lang="en-US" altLang="zh-CN">
              <a:solidFill>
                <a:schemeClr val="accent1">
                  <a:lumMod val="75000"/>
                </a:schemeClr>
              </a:solidFill>
              <a:latin typeface="Noto Sans SC" panose="020B0200000000000000" charset="-122"/>
              <a:ea typeface="Noto Sans SC" panose="020B0200000000000000" charset="-122"/>
            </a:endParaRPr>
          </a:p>
        </p:txBody>
      </p:sp>
      <p:cxnSp>
        <p:nvCxnSpPr>
          <p:cNvPr id="40" name="直接连接符 39"/>
          <p:cNvCxnSpPr>
            <a:endCxn id="39" idx="1"/>
          </p:cNvCxnSpPr>
          <p:nvPr/>
        </p:nvCxnSpPr>
        <p:spPr>
          <a:xfrm>
            <a:off x="3733800" y="6197600"/>
            <a:ext cx="955040" cy="28257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alphaModFix amt="36000"/>
          </a:blip>
          <a:stretch>
            <a:fillRect/>
          </a:stretch>
        </a:blipFill>
        <a:effectLst/>
      </p:bgPr>
    </p:bg>
    <p:spTree>
      <p:nvGrpSpPr>
        <p:cNvPr id="1" name=""/>
        <p:cNvGrpSpPr/>
        <p:nvPr/>
      </p:nvGrpSpPr>
      <p:grpSpPr/>
      <p:sp>
        <p:nvSpPr>
          <p:cNvPr id="5" name="文本框 4"/>
          <p:cNvSpPr txBox="1"/>
          <p:nvPr/>
        </p:nvSpPr>
        <p:spPr>
          <a:xfrm>
            <a:off x="3022600" y="708025"/>
            <a:ext cx="7156450" cy="521970"/>
          </a:xfrm>
          <a:prstGeom prst="rect">
            <a:avLst/>
          </a:prstGeom>
        </p:spPr>
        <p:txBody>
          <a:bodyPr wrap="square">
            <a:spAutoFit/>
          </a:bodyPr>
          <a:p>
            <a:r>
              <a:rPr lang="en-US" altLang="zh-CN" sz="2800">
                <a:latin typeface="Noto Sans SC Medium" panose="020B0200000000000000" charset="-122"/>
                <a:ea typeface="Noto Sans SC Medium" panose="020B0200000000000000" charset="-122"/>
              </a:rPr>
              <a:t>Superior Net Return  (Quality &gt; Quantity)</a:t>
            </a:r>
            <a:endParaRPr lang="en-US" altLang="zh-CN" sz="2800">
              <a:latin typeface="Noto Sans SC Medium" panose="020B0200000000000000" charset="-122"/>
              <a:ea typeface="Noto Sans SC Medium" panose="020B0200000000000000" charset="-122"/>
            </a:endParaRPr>
          </a:p>
        </p:txBody>
      </p:sp>
      <p:pic>
        <p:nvPicPr>
          <p:cNvPr id="6" name="图片 5"/>
          <p:cNvPicPr>
            <a:picLocks noChangeAspect="1"/>
          </p:cNvPicPr>
          <p:nvPr/>
        </p:nvPicPr>
        <p:blipFill>
          <a:blip r:embed="rId2"/>
          <a:stretch>
            <a:fillRect/>
          </a:stretch>
        </p:blipFill>
        <p:spPr>
          <a:xfrm>
            <a:off x="708025" y="1953895"/>
            <a:ext cx="4660900" cy="3775075"/>
          </a:xfrm>
          <a:prstGeom prst="rect">
            <a:avLst/>
          </a:prstGeom>
        </p:spPr>
      </p:pic>
      <p:pic>
        <p:nvPicPr>
          <p:cNvPr id="7" name="图片 6"/>
          <p:cNvPicPr>
            <a:picLocks noChangeAspect="1"/>
          </p:cNvPicPr>
          <p:nvPr/>
        </p:nvPicPr>
        <p:blipFill>
          <a:blip r:embed="rId3"/>
          <a:stretch>
            <a:fillRect/>
          </a:stretch>
        </p:blipFill>
        <p:spPr>
          <a:xfrm>
            <a:off x="6935470" y="1991995"/>
            <a:ext cx="4552950" cy="3775075"/>
          </a:xfrm>
          <a:prstGeom prst="rect">
            <a:avLst/>
          </a:prstGeom>
        </p:spPr>
      </p:pic>
      <p:sp>
        <p:nvSpPr>
          <p:cNvPr id="8" name="文本框 7"/>
          <p:cNvSpPr txBox="1"/>
          <p:nvPr/>
        </p:nvSpPr>
        <p:spPr>
          <a:xfrm>
            <a:off x="2737485" y="6223000"/>
            <a:ext cx="9670415" cy="460375"/>
          </a:xfrm>
          <a:prstGeom prst="rect">
            <a:avLst/>
          </a:prstGeom>
        </p:spPr>
        <p:txBody>
          <a:bodyPr wrap="square">
            <a:spAutoFit/>
          </a:bodyPr>
          <a:p>
            <a:r>
              <a:rPr lang="en-US" altLang="zh-CN" sz="2400" b="1">
                <a:solidFill>
                  <a:srgbClr val="900B1E"/>
                </a:solidFill>
                <a:latin typeface="Noto Sans SC DemiLight" panose="020B0200000000000000" charset="-122"/>
                <a:ea typeface="Noto Sans SC DemiLight" panose="020B0200000000000000" charset="-122"/>
              </a:rPr>
              <a:t> By trading </a:t>
            </a:r>
            <a:r>
              <a:rPr lang="en-US" altLang="zh-CN" sz="2400" b="1" i="1">
                <a:solidFill>
                  <a:srgbClr val="900B1E"/>
                </a:solidFill>
                <a:latin typeface="Noto Sans SC DemiLight" panose="020B0200000000000000" charset="-122"/>
                <a:ea typeface="Noto Sans SC DemiLight" panose="020B0200000000000000" charset="-122"/>
              </a:rPr>
              <a:t>less</a:t>
            </a:r>
            <a:r>
              <a:rPr lang="en-US" altLang="zh-CN" sz="2400" b="1">
                <a:solidFill>
                  <a:srgbClr val="900B1E"/>
                </a:solidFill>
                <a:latin typeface="Noto Sans SC DemiLight" panose="020B0200000000000000" charset="-122"/>
                <a:ea typeface="Noto Sans SC DemiLight" panose="020B0200000000000000" charset="-122"/>
              </a:rPr>
              <a:t> (lower turnover), we actually earned </a:t>
            </a:r>
            <a:r>
              <a:rPr lang="en-US" altLang="zh-CN" sz="2400" b="1" i="1">
                <a:solidFill>
                  <a:srgbClr val="900B1E"/>
                </a:solidFill>
                <a:latin typeface="Noto Sans SC DemiLight" panose="020B0200000000000000" charset="-122"/>
                <a:ea typeface="Noto Sans SC DemiLight" panose="020B0200000000000000" charset="-122"/>
              </a:rPr>
              <a:t>more</a:t>
            </a:r>
            <a:r>
              <a:rPr lang="en-US" altLang="zh-CN" sz="2400" b="1">
                <a:solidFill>
                  <a:srgbClr val="900B1E"/>
                </a:solidFill>
                <a:latin typeface="Noto Sans SC DemiLight" panose="020B0200000000000000" charset="-122"/>
                <a:ea typeface="Noto Sans SC DemiLight" panose="020B0200000000000000" charset="-122"/>
              </a:rPr>
              <a:t>.</a:t>
            </a:r>
            <a:endParaRPr lang="en-US" altLang="zh-CN" sz="2400" b="1">
              <a:solidFill>
                <a:srgbClr val="900B1E"/>
              </a:solidFill>
              <a:latin typeface="Noto Sans SC DemiLight" panose="020B0200000000000000" charset="-122"/>
              <a:ea typeface="Noto Sans SC DemiLight"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alphaModFix amt="61000"/>
          </a:blip>
          <a:stretch>
            <a:fillRect/>
          </a:stretch>
        </a:blipFill>
        <a:effectLst/>
      </p:bgPr>
    </p:bg>
    <p:spTree>
      <p:nvGrpSpPr>
        <p:cNvPr id="1" name=""/>
        <p:cNvGrpSpPr/>
        <p:nvPr/>
      </p:nvGrpSpPr>
      <p:grpSpPr/>
      <p:sp>
        <p:nvSpPr>
          <p:cNvPr id="4" name="矩形 3"/>
          <p:cNvSpPr/>
          <p:nvPr/>
        </p:nvSpPr>
        <p:spPr>
          <a:xfrm>
            <a:off x="800735" y="1181100"/>
            <a:ext cx="10724515" cy="5334635"/>
          </a:xfrm>
          <a:prstGeom prst="rect">
            <a:avLst/>
          </a:prstGeom>
          <a:solidFill>
            <a:srgbClr val="F3F2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3251200" y="561975"/>
            <a:ext cx="5943600" cy="521970"/>
          </a:xfrm>
          <a:prstGeom prst="rect">
            <a:avLst/>
          </a:prstGeom>
        </p:spPr>
        <p:txBody>
          <a:bodyPr wrap="square">
            <a:spAutoFit/>
          </a:bodyPr>
          <a:p>
            <a:pPr fontAlgn="base"/>
            <a:r>
              <a:rPr lang="en-US" altLang="zh-CN" sz="2800" b="1" i="0">
                <a:solidFill>
                  <a:srgbClr val="900B1E"/>
                </a:solidFill>
                <a:latin typeface="Noto Sans SC DemiLight" panose="020B0200000000000000" charset="-122"/>
                <a:ea typeface="Noto Sans SC DemiLight" panose="020B0200000000000000" charset="-122"/>
              </a:rPr>
              <a:t>Statistical Significance Verification</a:t>
            </a:r>
            <a:endParaRPr lang="en-US" altLang="zh-CN" sz="2800" b="1" i="0">
              <a:solidFill>
                <a:srgbClr val="900B1E"/>
              </a:solidFill>
              <a:latin typeface="Noto Sans SC DemiLight" panose="020B0200000000000000" charset="-122"/>
              <a:ea typeface="Noto Sans SC DemiLight" panose="020B0200000000000000" charset="-122"/>
            </a:endParaRPr>
          </a:p>
        </p:txBody>
      </p:sp>
      <p:sp>
        <p:nvSpPr>
          <p:cNvPr id="6" name="文本框 5"/>
          <p:cNvSpPr txBox="1"/>
          <p:nvPr/>
        </p:nvSpPr>
        <p:spPr>
          <a:xfrm>
            <a:off x="800735" y="1238250"/>
            <a:ext cx="10725150" cy="1137285"/>
          </a:xfrm>
          <a:prstGeom prst="rect">
            <a:avLst/>
          </a:prstGeom>
          <a:noFill/>
        </p:spPr>
        <p:txBody>
          <a:bodyPr wrap="square" rtlCol="0">
            <a:spAutoFit/>
          </a:bodyPr>
          <a:p>
            <a:r>
              <a:rPr lang="en-US" altLang="zh-CN" sz="3200">
                <a:solidFill>
                  <a:schemeClr val="tx1"/>
                </a:solidFill>
                <a:latin typeface="Noto Sans SC Medium" panose="020B0200000000000000" charset="-122"/>
                <a:ea typeface="Noto Sans SC Medium" panose="020B0200000000000000" charset="-122"/>
                <a:cs typeface="Berlin Sans FB" panose="020E0602020502020306" charset="0"/>
              </a:rPr>
              <a:t>The Question: is our 1.66% vs.1.59% net return advantage real, or is it a result of </a:t>
            </a:r>
            <a:r>
              <a:rPr lang="en-US" altLang="zh-CN" sz="3600">
                <a:solidFill>
                  <a:srgbClr val="11598B"/>
                </a:solidFill>
                <a:latin typeface="Noto Sans SC Medium" panose="020B0200000000000000" charset="-122"/>
                <a:ea typeface="Noto Sans SC Medium" panose="020B0200000000000000" charset="-122"/>
                <a:cs typeface="Berlin Sans FB" panose="020E0602020502020306" charset="0"/>
              </a:rPr>
              <a:t>Random</a:t>
            </a:r>
            <a:r>
              <a:rPr lang="en-US" altLang="zh-CN" sz="3200">
                <a:solidFill>
                  <a:schemeClr val="tx1"/>
                </a:solidFill>
                <a:latin typeface="Noto Sans SC Medium" panose="020B0200000000000000" charset="-122"/>
                <a:ea typeface="Noto Sans SC Medium" panose="020B0200000000000000" charset="-122"/>
                <a:cs typeface="Berlin Sans FB" panose="020E0602020502020306" charset="0"/>
              </a:rPr>
              <a:t> chance?</a:t>
            </a:r>
            <a:endParaRPr lang="en-US" altLang="zh-CN" sz="3200">
              <a:solidFill>
                <a:schemeClr val="tx1"/>
              </a:solidFill>
              <a:latin typeface="Noto Sans SC Medium" panose="020B0200000000000000" charset="-122"/>
              <a:ea typeface="Noto Sans SC Medium" panose="020B0200000000000000" charset="-122"/>
              <a:cs typeface="Berlin Sans FB" panose="020E0602020502020306" charset="0"/>
            </a:endParaRPr>
          </a:p>
        </p:txBody>
      </p:sp>
      <p:pic>
        <p:nvPicPr>
          <p:cNvPr id="7" name="图片 6" descr="勾勾"/>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56385" y="2581910"/>
            <a:ext cx="603250" cy="603250"/>
          </a:xfrm>
          <a:prstGeom prst="rect">
            <a:avLst/>
          </a:prstGeom>
        </p:spPr>
      </p:pic>
      <p:sp>
        <p:nvSpPr>
          <p:cNvPr id="8" name="文本框 7"/>
          <p:cNvSpPr txBox="1"/>
          <p:nvPr/>
        </p:nvSpPr>
        <p:spPr>
          <a:xfrm>
            <a:off x="2432050" y="2529840"/>
            <a:ext cx="9048750" cy="755650"/>
          </a:xfrm>
          <a:prstGeom prst="rect">
            <a:avLst/>
          </a:prstGeom>
          <a:noFill/>
        </p:spPr>
        <p:txBody>
          <a:bodyPr wrap="square" rtlCol="0" anchor="t">
            <a:spAutoFit/>
          </a:bodyPr>
          <a:p>
            <a:pPr algn="l">
              <a:lnSpc>
                <a:spcPct val="120000"/>
              </a:lnSpc>
            </a:pPr>
            <a:r>
              <a:rPr lang="en-US" altLang="zh-CN" b="1">
                <a:solidFill>
                  <a:srgbClr val="11598B"/>
                </a:solidFill>
                <a:latin typeface="Noto Sans SC" panose="020B0200000000000000" charset="-122"/>
                <a:ea typeface="Noto Sans SC" panose="020B0200000000000000" charset="-122"/>
                <a:cs typeface="Noto Sans SC" panose="020B0200000000000000" charset="-122"/>
                <a:sym typeface="+mn-ea"/>
              </a:rPr>
              <a:t>1. Check for Normality</a:t>
            </a:r>
            <a:r>
              <a:rPr lang="zh-CN" altLang="en-US" b="1">
                <a:solidFill>
                  <a:srgbClr val="11598B"/>
                </a:solidFill>
                <a:latin typeface="Noto Sans SC" panose="020B0200000000000000" charset="-122"/>
                <a:ea typeface="Noto Sans SC" panose="020B0200000000000000" charset="-122"/>
                <a:cs typeface="Noto Sans SC" panose="020B0200000000000000" charset="-122"/>
                <a:sym typeface="+mn-ea"/>
              </a:rPr>
              <a:t>：</a:t>
            </a:r>
            <a:r>
              <a:rPr lang="en-US" altLang="zh-CN">
                <a:latin typeface="Noto Sans SC" panose="020B0200000000000000" charset="-122"/>
                <a:ea typeface="Noto Sans SC" panose="020B0200000000000000" charset="-122"/>
                <a:cs typeface="Noto Sans SC" panose="020B0200000000000000" charset="-122"/>
                <a:sym typeface="+mn-ea"/>
              </a:rPr>
              <a:t>The Shapiro–Wilk test on the paired return differences rejects the null hypothesis of normality (p &lt; 0.05). Therefore, a standard t-test is not appropriate.</a:t>
            </a:r>
            <a:endParaRPr lang="en-US" altLang="zh-CN">
              <a:latin typeface="Noto Sans SC" panose="020B0200000000000000" charset="-122"/>
              <a:ea typeface="Noto Sans SC" panose="020B0200000000000000" charset="-122"/>
              <a:cs typeface="Noto Sans SC" panose="020B0200000000000000" charset="-122"/>
              <a:sym typeface="+mn-ea"/>
            </a:endParaRPr>
          </a:p>
        </p:txBody>
      </p:sp>
      <p:pic>
        <p:nvPicPr>
          <p:cNvPr id="9" name="图片 8" descr="勾勾"/>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56385" y="3493770"/>
            <a:ext cx="603250" cy="603250"/>
          </a:xfrm>
          <a:prstGeom prst="rect">
            <a:avLst/>
          </a:prstGeom>
        </p:spPr>
      </p:pic>
      <p:sp>
        <p:nvSpPr>
          <p:cNvPr id="10" name="文本框 9"/>
          <p:cNvSpPr txBox="1"/>
          <p:nvPr/>
        </p:nvSpPr>
        <p:spPr>
          <a:xfrm>
            <a:off x="2432050" y="3341370"/>
            <a:ext cx="8997950" cy="755650"/>
          </a:xfrm>
          <a:prstGeom prst="rect">
            <a:avLst/>
          </a:prstGeom>
        </p:spPr>
        <p:txBody>
          <a:bodyPr wrap="square">
            <a:spAutoFit/>
          </a:bodyPr>
          <a:p>
            <a:pPr>
              <a:lnSpc>
                <a:spcPct val="120000"/>
              </a:lnSpc>
            </a:pPr>
            <a:r>
              <a:rPr lang="en-US" altLang="zh-CN" b="1">
                <a:solidFill>
                  <a:srgbClr val="11598B"/>
                </a:solidFill>
                <a:latin typeface="Noto Sans SC" panose="020B0200000000000000" charset="-122"/>
                <a:ea typeface="Noto Sans SC" panose="020B0200000000000000" charset="-122"/>
                <a:cs typeface="Noto Sans SC" panose="020B0200000000000000" charset="-122"/>
              </a:rPr>
              <a:t>2. Apply a Robust Test</a:t>
            </a:r>
            <a:r>
              <a:rPr lang="zh-CN" altLang="en-US" b="1">
                <a:solidFill>
                  <a:srgbClr val="11598B"/>
                </a:solidFill>
                <a:latin typeface="Noto Sans SC" panose="020B0200000000000000" charset="-122"/>
                <a:ea typeface="Noto Sans SC" panose="020B0200000000000000" charset="-122"/>
                <a:cs typeface="Noto Sans SC" panose="020B0200000000000000" charset="-122"/>
              </a:rPr>
              <a:t>：</a:t>
            </a:r>
            <a:r>
              <a:rPr lang="en-US" altLang="zh-CN">
                <a:latin typeface="Noto Sans SC" panose="020B0200000000000000" charset="-122"/>
                <a:ea typeface="Noto Sans SC" panose="020B0200000000000000" charset="-122"/>
                <a:cs typeface="Noto Sans SC" panose="020B0200000000000000" charset="-122"/>
              </a:rPr>
              <a:t>We apply the non-parametric Wilcoxon Signed-Rank Test to compare paired fold-level net returns, which is suitable for non-normal data.</a:t>
            </a:r>
            <a:endParaRPr lang="en-US" altLang="zh-CN">
              <a:latin typeface="Noto Sans SC" panose="020B0200000000000000" charset="-122"/>
              <a:ea typeface="Noto Sans SC" panose="020B0200000000000000" charset="-122"/>
              <a:cs typeface="Noto Sans SC" panose="020B0200000000000000" charset="-122"/>
            </a:endParaRPr>
          </a:p>
        </p:txBody>
      </p:sp>
      <p:sp>
        <p:nvSpPr>
          <p:cNvPr id="11" name="文本框 10"/>
          <p:cNvSpPr txBox="1"/>
          <p:nvPr/>
        </p:nvSpPr>
        <p:spPr>
          <a:xfrm>
            <a:off x="2266950" y="4095750"/>
            <a:ext cx="7988300" cy="1198880"/>
          </a:xfrm>
          <a:prstGeom prst="rect">
            <a:avLst/>
          </a:prstGeom>
        </p:spPr>
        <p:txBody>
          <a:bodyPr wrap="square">
            <a:spAutoFit/>
          </a:bodyPr>
          <a:p>
            <a:r>
              <a:rPr lang="en-US" altLang="zh-CN" sz="7200">
                <a:solidFill>
                  <a:srgbClr val="11598B"/>
                </a:solidFill>
                <a:latin typeface="Noto Sans SC Medium" panose="020B0200000000000000" charset="-122"/>
                <a:ea typeface="Noto Sans SC Medium" panose="020B0200000000000000" charset="-122"/>
              </a:rPr>
              <a:t># p - value =  0.021</a:t>
            </a:r>
            <a:endParaRPr lang="en-US" altLang="zh-CN" sz="7200">
              <a:solidFill>
                <a:srgbClr val="11598B"/>
              </a:solidFill>
              <a:latin typeface="Noto Sans SC Medium" panose="020B0200000000000000" charset="-122"/>
              <a:ea typeface="Noto Sans SC Medium" panose="020B0200000000000000" charset="-122"/>
            </a:endParaRPr>
          </a:p>
        </p:txBody>
      </p:sp>
      <p:sp>
        <p:nvSpPr>
          <p:cNvPr id="12" name="文本框 11"/>
          <p:cNvSpPr txBox="1"/>
          <p:nvPr/>
        </p:nvSpPr>
        <p:spPr>
          <a:xfrm>
            <a:off x="800735" y="5546725"/>
            <a:ext cx="10724515" cy="645160"/>
          </a:xfrm>
          <a:prstGeom prst="rect">
            <a:avLst/>
          </a:prstGeom>
        </p:spPr>
        <p:txBody>
          <a:bodyPr wrap="square">
            <a:spAutoFit/>
          </a:bodyPr>
          <a:p>
            <a:r>
              <a:rPr lang="en-US" altLang="zh-CN">
                <a:latin typeface="Noto Sans SC" panose="020B0200000000000000" charset="-122"/>
                <a:ea typeface="Noto Sans SC" panose="020B0200000000000000" charset="-122"/>
              </a:rPr>
              <a:t>At the 5% significance level (α = 0.05), the MoE strategy’s outperformance is statistically significant and unlikely to be driven by random variation.</a:t>
            </a:r>
            <a:endParaRPr lang="en-US" altLang="zh-CN">
              <a:latin typeface="Noto Sans SC" panose="020B0200000000000000" charset="-122"/>
              <a:ea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625" y="4862195"/>
            <a:ext cx="7910195" cy="141224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kumimoji="1" lang="en-US" altLang="zh-CN" sz="4800" b="1" dirty="0">
                <a:solidFill>
                  <a:srgbClr val="09928A"/>
                </a:solidFill>
                <a:latin typeface="Arial" panose="020B0604020202020204" pitchFamily="34" charset="0"/>
                <a:cs typeface="Arial" panose="020B0604020202020204" pitchFamily="34" charset="0"/>
              </a:rPr>
              <a:t>Conclusion &amp; Future Work</a:t>
            </a:r>
            <a:endParaRPr kumimoji="1" lang="en-US" altLang="zh-CN" sz="4800" b="1" dirty="0">
              <a:solidFill>
                <a:srgbClr val="09928A"/>
              </a:solidFill>
              <a:latin typeface="Arial" panose="020B0604020202020204" pitchFamily="34" charset="0"/>
              <a:cs typeface="Arial" panose="020B0604020202020204" pitchFamily="34" charset="0"/>
            </a:endParaRPr>
          </a:p>
        </p:txBody>
      </p:sp>
      <p:pic>
        <p:nvPicPr>
          <p:cNvPr id="5" name="内容占位符 4" descr="C:/Users/Lenovo/Desktop/d826ca97-89b7-4887-b846-bbe0acaddc29.jpgd826ca97-89b7-4887-b846-bbe0acaddc29"/>
          <p:cNvPicPr>
            <a:picLocks noChangeAspect="1"/>
          </p:cNvPicPr>
          <p:nvPr/>
        </p:nvPicPr>
        <p:blipFill>
          <a:blip r:embed="rId1"/>
          <a:srcRect t="24708" b="24708"/>
          <a:stretch>
            <a:fillRect/>
          </a:stretch>
        </p:blipFill>
        <p:spPr>
          <a:xfrm>
            <a:off x="-63500" y="0"/>
            <a:ext cx="12255500" cy="4558665"/>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a:blipFill>
            <a:blip r:embed="rId2" cstate="screen"/>
            <a:stretch>
              <a:fillRect/>
            </a:stretch>
          </a:blipFill>
        </p:spPr>
      </p:pic>
      <p:sp>
        <p:nvSpPr>
          <p:cNvPr id="9" name="文本框 8"/>
          <p:cNvSpPr txBox="1"/>
          <p:nvPr/>
        </p:nvSpPr>
        <p:spPr>
          <a:xfrm>
            <a:off x="9297670" y="5214620"/>
            <a:ext cx="1368425" cy="1361440"/>
          </a:xfrm>
          <a:prstGeom prst="rect">
            <a:avLst/>
          </a:prstGeom>
        </p:spPr>
        <p:txBody>
          <a:bodyPr vert="horz" lIns="91440" tIns="45720" rIns="91440" bIns="45720" rtlCol="0" anchor="ctr">
            <a:normAutofit/>
          </a:bodyPr>
          <a:lstStyle/>
          <a:p>
            <a:pPr>
              <a:lnSpc>
                <a:spcPct val="90000"/>
              </a:lnSpc>
              <a:spcAft>
                <a:spcPts val="600"/>
              </a:spcAft>
            </a:pPr>
            <a:r>
              <a:rPr kumimoji="1" lang="en-US" altLang="zh-CN" sz="6000" b="1" dirty="0">
                <a:solidFill>
                  <a:srgbClr val="09928A"/>
                </a:solidFill>
                <a:latin typeface="Arial" panose="020B0604020202020204" pitchFamily="34" charset="0"/>
                <a:cs typeface="Arial" panose="020B0604020202020204" pitchFamily="34" charset="0"/>
              </a:rPr>
              <a:t>05</a:t>
            </a:r>
            <a:endParaRPr kumimoji="1" lang="en-US" altLang="zh-CN" sz="6000" b="1" dirty="0">
              <a:solidFill>
                <a:srgbClr val="09928A"/>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alphaModFix amt="11000"/>
          </a:blip>
          <a:stretch>
            <a:fillRect/>
          </a:stretch>
        </a:blipFill>
        <a:effectLst/>
      </p:bgPr>
    </p:bg>
    <p:spTree>
      <p:nvGrpSpPr>
        <p:cNvPr id="1" name=""/>
        <p:cNvGrpSpPr/>
        <p:nvPr/>
      </p:nvGrpSpPr>
      <p:grpSpPr/>
      <p:sp>
        <p:nvSpPr>
          <p:cNvPr id="10" name="文本框 9"/>
          <p:cNvSpPr txBox="1"/>
          <p:nvPr/>
        </p:nvSpPr>
        <p:spPr>
          <a:xfrm>
            <a:off x="4091305" y="270510"/>
            <a:ext cx="5681345" cy="1014730"/>
          </a:xfrm>
          <a:prstGeom prst="rect">
            <a:avLst/>
          </a:prstGeom>
          <a:noFill/>
        </p:spPr>
        <p:txBody>
          <a:bodyPr wrap="square" rtlCol="0">
            <a:spAutoFit/>
          </a:bodyPr>
          <a:p>
            <a:r>
              <a:rPr lang="en-US" altLang="zh-CN" sz="6000">
                <a:solidFill>
                  <a:srgbClr val="11598B"/>
                </a:solidFill>
                <a:latin typeface="Berlin Sans FB" panose="020E0602020502020306" charset="0"/>
                <a:ea typeface="Noto Sans SC Medium" panose="020B0200000000000000" charset="-122"/>
                <a:cs typeface="Berlin Sans FB" panose="020E0602020502020306" charset="0"/>
              </a:rPr>
              <a:t>Conclusion</a:t>
            </a:r>
            <a:endParaRPr lang="en-US" altLang="zh-CN" sz="3600">
              <a:solidFill>
                <a:srgbClr val="11598B"/>
              </a:solidFill>
              <a:latin typeface="Berlin Sans FB" panose="020E0602020502020306" charset="0"/>
              <a:ea typeface="Noto Sans SC Medium" panose="020B0200000000000000" charset="-122"/>
              <a:cs typeface="Berlin Sans FB" panose="020E0602020502020306" charset="0"/>
            </a:endParaRPr>
          </a:p>
        </p:txBody>
      </p:sp>
      <p:pic>
        <p:nvPicPr>
          <p:cNvPr id="11" name="图片 10" descr="订货单"/>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6424295" y="4229100"/>
            <a:ext cx="1016000" cy="1016000"/>
          </a:xfrm>
          <a:prstGeom prst="rect">
            <a:avLst/>
          </a:prstGeom>
        </p:spPr>
      </p:pic>
      <p:pic>
        <p:nvPicPr>
          <p:cNvPr id="12" name="图片 11" descr="答辩查重"/>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28675" y="4229100"/>
            <a:ext cx="914400" cy="914400"/>
          </a:xfrm>
          <a:prstGeom prst="rect">
            <a:avLst/>
          </a:prstGeom>
        </p:spPr>
      </p:pic>
      <p:pic>
        <p:nvPicPr>
          <p:cNvPr id="13" name="图片 12" descr="拼图"/>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828675" y="1739900"/>
            <a:ext cx="914400" cy="914400"/>
          </a:xfrm>
          <a:prstGeom prst="rect">
            <a:avLst/>
          </a:prstGeom>
        </p:spPr>
      </p:pic>
      <p:pic>
        <p:nvPicPr>
          <p:cNvPr id="14" name="图片 13" descr="眼睛"/>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379210" y="1739900"/>
            <a:ext cx="975995" cy="975995"/>
          </a:xfrm>
          <a:prstGeom prst="rect">
            <a:avLst/>
          </a:prstGeom>
        </p:spPr>
      </p:pic>
      <p:sp>
        <p:nvSpPr>
          <p:cNvPr id="15" name="文本框 14"/>
          <p:cNvSpPr txBox="1"/>
          <p:nvPr>
            <p:custDataLst>
              <p:tags r:id="rId14"/>
            </p:custDataLst>
          </p:nvPr>
        </p:nvSpPr>
        <p:spPr>
          <a:xfrm>
            <a:off x="1968500" y="1586230"/>
            <a:ext cx="4410710" cy="1374775"/>
          </a:xfrm>
          <a:prstGeom prst="rect">
            <a:avLst/>
          </a:prstGeom>
        </p:spPr>
        <p:txBody>
          <a:bodyPr wrap="square">
            <a:noAutofit/>
          </a:bodyPr>
          <a:p>
            <a:pPr>
              <a:lnSpc>
                <a:spcPct val="160000"/>
              </a:lnSpc>
            </a:pPr>
            <a:r>
              <a:rPr lang="en-US" altLang="zh-CN" sz="2000" b="1">
                <a:solidFill>
                  <a:srgbClr val="11598B"/>
                </a:solidFill>
                <a:latin typeface="Noto Sans SC" panose="020B0200000000000000" charset="-122"/>
                <a:ea typeface="Noto Sans SC" panose="020B0200000000000000" charset="-122"/>
              </a:rPr>
              <a:t>1. Lagging Paradox Resolved</a:t>
            </a:r>
            <a:endParaRPr lang="en-US" altLang="zh-CN" sz="2000" b="1">
              <a:solidFill>
                <a:srgbClr val="11598B"/>
              </a:solidFill>
              <a:latin typeface="Noto Sans SC" panose="020B0200000000000000" charset="-122"/>
              <a:ea typeface="Noto Sans SC" panose="020B0200000000000000" charset="-122"/>
            </a:endParaRPr>
          </a:p>
          <a:p>
            <a:pPr>
              <a:lnSpc>
                <a:spcPct val="160000"/>
              </a:lnSpc>
            </a:pPr>
            <a:r>
              <a:rPr lang="en-US" altLang="zh-CN" sz="2000">
                <a:solidFill>
                  <a:srgbClr val="11598B"/>
                </a:solidFill>
                <a:latin typeface="Noto Sans SC" panose="020B0200000000000000" charset="-122"/>
                <a:ea typeface="Noto Sans SC" panose="020B0200000000000000" charset="-122"/>
              </a:rPr>
              <a:t>High directional accuracy (DA) with timely responses.</a:t>
            </a:r>
            <a:endParaRPr lang="en-US" altLang="zh-CN" sz="2000">
              <a:solidFill>
                <a:srgbClr val="11598B"/>
              </a:solidFill>
              <a:latin typeface="Noto Sans SC" panose="020B0200000000000000" charset="-122"/>
              <a:ea typeface="Noto Sans SC" panose="020B0200000000000000" charset="-122"/>
            </a:endParaRPr>
          </a:p>
        </p:txBody>
      </p:sp>
      <p:sp>
        <p:nvSpPr>
          <p:cNvPr id="17" name="文本框 16"/>
          <p:cNvSpPr txBox="1"/>
          <p:nvPr>
            <p:custDataLst>
              <p:tags r:id="rId15"/>
            </p:custDataLst>
          </p:nvPr>
        </p:nvSpPr>
        <p:spPr>
          <a:xfrm>
            <a:off x="7644130" y="1489710"/>
            <a:ext cx="4173855" cy="1568450"/>
          </a:xfrm>
          <a:prstGeom prst="rect">
            <a:avLst/>
          </a:prstGeom>
        </p:spPr>
        <p:txBody>
          <a:bodyPr wrap="square">
            <a:spAutoFit/>
          </a:bodyPr>
          <a:p>
            <a:pPr>
              <a:lnSpc>
                <a:spcPct val="160000"/>
              </a:lnSpc>
            </a:pPr>
            <a:r>
              <a:rPr lang="en-US" altLang="zh-CN" sz="2000" b="1">
                <a:solidFill>
                  <a:srgbClr val="11598B"/>
                </a:solidFill>
                <a:latin typeface="Noto Sans SC" panose="020B0200000000000000" charset="-122"/>
                <a:ea typeface="Noto Sans SC" panose="020B0200000000000000" charset="-122"/>
              </a:rPr>
              <a:t>2. Regime-Aware Modeling</a:t>
            </a:r>
            <a:endParaRPr lang="en-US" altLang="zh-CN" sz="2000" b="1">
              <a:solidFill>
                <a:srgbClr val="11598B"/>
              </a:solidFill>
              <a:latin typeface="Noto Sans SC" panose="020B0200000000000000" charset="-122"/>
              <a:ea typeface="Noto Sans SC" panose="020B0200000000000000" charset="-122"/>
            </a:endParaRPr>
          </a:p>
          <a:p>
            <a:pPr>
              <a:lnSpc>
                <a:spcPct val="160000"/>
              </a:lnSpc>
            </a:pPr>
            <a:r>
              <a:rPr lang="en-US" altLang="zh-CN" sz="2000">
                <a:solidFill>
                  <a:srgbClr val="11598B"/>
                </a:solidFill>
                <a:latin typeface="Noto Sans SC" panose="020B0200000000000000" charset="-122"/>
                <a:ea typeface="Noto Sans SC" panose="020B0200000000000000" charset="-122"/>
              </a:rPr>
              <a:t> Heterogeneous MoE effectively captures diverse market states.</a:t>
            </a:r>
            <a:endParaRPr lang="en-US" altLang="zh-CN" sz="2000">
              <a:solidFill>
                <a:srgbClr val="11598B"/>
              </a:solidFill>
              <a:latin typeface="Noto Sans SC" panose="020B0200000000000000" charset="-122"/>
              <a:ea typeface="Noto Sans SC" panose="020B0200000000000000" charset="-122"/>
            </a:endParaRPr>
          </a:p>
        </p:txBody>
      </p:sp>
      <p:sp>
        <p:nvSpPr>
          <p:cNvPr id="18" name="文本框 17"/>
          <p:cNvSpPr txBox="1"/>
          <p:nvPr>
            <p:custDataLst>
              <p:tags r:id="rId16"/>
            </p:custDataLst>
          </p:nvPr>
        </p:nvSpPr>
        <p:spPr>
          <a:xfrm>
            <a:off x="2031365" y="4203065"/>
            <a:ext cx="4029710" cy="1291590"/>
          </a:xfrm>
          <a:prstGeom prst="rect">
            <a:avLst/>
          </a:prstGeom>
        </p:spPr>
        <p:txBody>
          <a:bodyPr wrap="square">
            <a:spAutoFit/>
          </a:bodyPr>
          <a:p>
            <a:pPr>
              <a:lnSpc>
                <a:spcPct val="130000"/>
              </a:lnSpc>
            </a:pPr>
            <a:r>
              <a:rPr lang="en-US" altLang="zh-CN" sz="2000" b="1">
                <a:solidFill>
                  <a:srgbClr val="11598B"/>
                </a:solidFill>
                <a:latin typeface="Noto Sans SC" panose="020B0200000000000000" charset="-122"/>
                <a:ea typeface="Noto Sans SC" panose="020B0200000000000000" charset="-122"/>
              </a:rPr>
              <a:t>3. Model Interpretability</a:t>
            </a:r>
            <a:endParaRPr lang="en-US" altLang="zh-CN" sz="2000" b="1">
              <a:solidFill>
                <a:srgbClr val="11598B"/>
              </a:solidFill>
              <a:latin typeface="Noto Sans SC" panose="020B0200000000000000" charset="-122"/>
              <a:ea typeface="Noto Sans SC" panose="020B0200000000000000" charset="-122"/>
            </a:endParaRPr>
          </a:p>
          <a:p>
            <a:pPr>
              <a:lnSpc>
                <a:spcPct val="130000"/>
              </a:lnSpc>
            </a:pPr>
            <a:r>
              <a:rPr lang="en-US" altLang="zh-CN" sz="2000">
                <a:solidFill>
                  <a:srgbClr val="11598B"/>
                </a:solidFill>
                <a:latin typeface="Noto Sans SC" panose="020B0200000000000000" charset="-122"/>
                <a:ea typeface="Noto Sans SC" panose="020B0200000000000000" charset="-122"/>
              </a:rPr>
              <a:t> Provides credible and actionable explanatory tools.</a:t>
            </a:r>
            <a:endParaRPr lang="en-US" altLang="zh-CN" sz="2000">
              <a:solidFill>
                <a:srgbClr val="11598B"/>
              </a:solidFill>
              <a:latin typeface="Noto Sans SC" panose="020B0200000000000000" charset="-122"/>
              <a:ea typeface="Noto Sans SC" panose="020B0200000000000000" charset="-122"/>
            </a:endParaRPr>
          </a:p>
        </p:txBody>
      </p:sp>
      <p:sp>
        <p:nvSpPr>
          <p:cNvPr id="19" name="文本框 18"/>
          <p:cNvSpPr txBox="1"/>
          <p:nvPr>
            <p:custDataLst>
              <p:tags r:id="rId17"/>
            </p:custDataLst>
          </p:nvPr>
        </p:nvSpPr>
        <p:spPr>
          <a:xfrm>
            <a:off x="7694930" y="4110990"/>
            <a:ext cx="4259580" cy="1383665"/>
          </a:xfrm>
          <a:prstGeom prst="rect">
            <a:avLst/>
          </a:prstGeom>
        </p:spPr>
        <p:txBody>
          <a:bodyPr wrap="square">
            <a:spAutoFit/>
          </a:bodyPr>
          <a:p>
            <a:pPr>
              <a:lnSpc>
                <a:spcPct val="140000"/>
              </a:lnSpc>
            </a:pPr>
            <a:r>
              <a:rPr lang="en-US" altLang="zh-CN" sz="2000" b="1">
                <a:solidFill>
                  <a:srgbClr val="11598B"/>
                </a:solidFill>
                <a:latin typeface="Noto Sans SC" panose="020B0200000000000000" charset="-122"/>
                <a:ea typeface="Noto Sans SC" panose="020B0200000000000000" charset="-122"/>
              </a:rPr>
              <a:t>4. Economic Viability</a:t>
            </a:r>
            <a:endParaRPr lang="en-US" altLang="zh-CN" sz="2000" b="1">
              <a:solidFill>
                <a:srgbClr val="11598B"/>
              </a:solidFill>
              <a:latin typeface="Noto Sans SC" panose="020B0200000000000000" charset="-122"/>
              <a:ea typeface="Noto Sans SC" panose="020B0200000000000000" charset="-122"/>
            </a:endParaRPr>
          </a:p>
          <a:p>
            <a:pPr>
              <a:lnSpc>
                <a:spcPct val="140000"/>
              </a:lnSpc>
            </a:pPr>
            <a:r>
              <a:rPr lang="en-US" altLang="zh-CN" sz="2000">
                <a:solidFill>
                  <a:srgbClr val="11598B"/>
                </a:solidFill>
                <a:latin typeface="Noto Sans SC" panose="020B0200000000000000" charset="-122"/>
                <a:ea typeface="Noto Sans SC" panose="020B0200000000000000" charset="-122"/>
              </a:rPr>
              <a:t> Remains profitable after transaction costs.</a:t>
            </a:r>
            <a:endParaRPr lang="en-US" altLang="zh-CN" sz="2000">
              <a:solidFill>
                <a:srgbClr val="11598B"/>
              </a:solidFill>
              <a:latin typeface="Noto Sans SC" panose="020B0200000000000000" charset="-122"/>
              <a:ea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alphaModFix amt="17000"/>
          </a:blip>
          <a:stretch>
            <a:fillRect/>
          </a:stretch>
        </a:blipFill>
        <a:effectLst/>
      </p:bgPr>
    </p:bg>
    <p:spTree>
      <p:nvGrpSpPr>
        <p:cNvPr id="1" name=""/>
        <p:cNvGrpSpPr/>
        <p:nvPr/>
      </p:nvGrpSpPr>
      <p:grpSpPr/>
      <p:sp>
        <p:nvSpPr>
          <p:cNvPr id="10" name="文本框 9"/>
          <p:cNvSpPr txBox="1"/>
          <p:nvPr/>
        </p:nvSpPr>
        <p:spPr>
          <a:xfrm>
            <a:off x="3328670" y="270510"/>
            <a:ext cx="7696835" cy="706755"/>
          </a:xfrm>
          <a:prstGeom prst="rect">
            <a:avLst/>
          </a:prstGeom>
          <a:noFill/>
        </p:spPr>
        <p:txBody>
          <a:bodyPr wrap="square" rtlCol="0">
            <a:spAutoFit/>
          </a:bodyPr>
          <a:p>
            <a:r>
              <a:rPr lang="en-US" altLang="zh-CN" sz="4000">
                <a:solidFill>
                  <a:srgbClr val="11598B"/>
                </a:solidFill>
                <a:latin typeface="Berlin Sans FB" panose="020E0602020502020306" charset="0"/>
                <a:ea typeface="Noto Sans SC Medium" panose="020B0200000000000000" charset="-122"/>
                <a:cs typeface="Berlin Sans FB" panose="020E0602020502020306" charset="0"/>
              </a:rPr>
              <a:t>Limitations &amp; Future Work</a:t>
            </a:r>
            <a:endParaRPr lang="en-US" altLang="zh-CN" sz="4000">
              <a:solidFill>
                <a:srgbClr val="11598B"/>
              </a:solidFill>
              <a:latin typeface="Berlin Sans FB" panose="020E0602020502020306" charset="0"/>
              <a:ea typeface="Noto Sans SC Medium" panose="020B0200000000000000" charset="-122"/>
              <a:cs typeface="Berlin Sans FB" panose="020E0602020502020306" charset="0"/>
            </a:endParaRPr>
          </a:p>
        </p:txBody>
      </p:sp>
      <p:sp>
        <p:nvSpPr>
          <p:cNvPr id="5" name="文本框 4"/>
          <p:cNvSpPr txBox="1"/>
          <p:nvPr/>
        </p:nvSpPr>
        <p:spPr>
          <a:xfrm>
            <a:off x="431800" y="1443038"/>
            <a:ext cx="5080000" cy="4528820"/>
          </a:xfrm>
          <a:prstGeom prst="rect">
            <a:avLst/>
          </a:prstGeom>
        </p:spPr>
        <p:txBody>
          <a:bodyPr>
            <a:spAutoFit/>
          </a:bodyPr>
          <a:p>
            <a:pPr>
              <a:lnSpc>
                <a:spcPct val="140000"/>
              </a:lnSpc>
              <a:spcAft>
                <a:spcPct val="60000"/>
              </a:spcAft>
            </a:pPr>
            <a:r>
              <a:rPr lang="en-US" altLang="zh-CN" sz="2800" b="1">
                <a:solidFill>
                  <a:schemeClr val="bg1">
                    <a:lumMod val="50000"/>
                  </a:schemeClr>
                </a:solidFill>
                <a:latin typeface="Noto Sans SC Medium" panose="020B0200000000000000" charset="-122"/>
                <a:ea typeface="Noto Sans SC Medium" panose="020B0200000000000000" charset="-122"/>
              </a:rPr>
              <a:t>LIMITATION</a:t>
            </a:r>
            <a:endParaRPr lang="en-US" altLang="zh-CN" sz="2800" b="1">
              <a:solidFill>
                <a:schemeClr val="bg1">
                  <a:lumMod val="50000"/>
                </a:schemeClr>
              </a:solidFill>
              <a:latin typeface="Noto Sans SC Medium" panose="020B0200000000000000" charset="-122"/>
              <a:ea typeface="Noto Sans SC Medium" panose="020B0200000000000000" charset="-122"/>
            </a:endParaRPr>
          </a:p>
          <a:p>
            <a:pPr>
              <a:lnSpc>
                <a:spcPct val="140000"/>
              </a:lnSpc>
              <a:buFont typeface="Arial" panose="020B0604020202020204"/>
              <a:buChar char="•"/>
            </a:pPr>
            <a:r>
              <a:rPr lang="en-US" altLang="zh-CN" sz="2000" b="1">
                <a:solidFill>
                  <a:schemeClr val="tx1"/>
                </a:solidFill>
                <a:latin typeface="Noto Sans SC" panose="020B0200000000000000" charset="-122"/>
                <a:ea typeface="Noto Sans SC" panose="020B0200000000000000" charset="-122"/>
              </a:rPr>
              <a:t> Feature Scope</a:t>
            </a:r>
            <a:endParaRPr lang="en-US" altLang="zh-CN" sz="2000" b="1">
              <a:solidFill>
                <a:schemeClr val="tx1"/>
              </a:solidFill>
              <a:latin typeface="Noto Sans SC" panose="020B0200000000000000" charset="-122"/>
              <a:ea typeface="Noto Sans SC" panose="020B0200000000000000" charset="-122"/>
            </a:endParaRPr>
          </a:p>
          <a:p>
            <a:pPr>
              <a:lnSpc>
                <a:spcPct val="140000"/>
              </a:lnSpc>
            </a:pPr>
            <a:r>
              <a:rPr lang="en-US" altLang="zh-CN" sz="2000">
                <a:solidFill>
                  <a:schemeClr val="tx1"/>
                </a:solidFill>
                <a:latin typeface="Noto Sans SC" panose="020B0200000000000000" charset="-122"/>
                <a:ea typeface="Noto Sans SC" panose="020B0200000000000000" charset="-122"/>
              </a:rPr>
              <a:t> The current model relies exclusively on technical indicators derived from price and volume data.</a:t>
            </a:r>
            <a:endParaRPr lang="en-US" altLang="zh-CN" sz="2000">
              <a:solidFill>
                <a:schemeClr val="tx1"/>
              </a:solidFill>
              <a:latin typeface="Noto Sans SC" panose="020B0200000000000000" charset="-122"/>
              <a:ea typeface="Noto Sans SC" panose="020B0200000000000000" charset="-122"/>
            </a:endParaRPr>
          </a:p>
          <a:p>
            <a:pPr>
              <a:lnSpc>
                <a:spcPct val="140000"/>
              </a:lnSpc>
              <a:buFont typeface="Arial" panose="020B0604020202020204"/>
              <a:buChar char="•"/>
            </a:pPr>
            <a:r>
              <a:rPr lang="en-US" altLang="zh-CN" sz="2000" b="1">
                <a:solidFill>
                  <a:schemeClr val="tx1"/>
                </a:solidFill>
                <a:latin typeface="Noto Sans SC" panose="020B0200000000000000" charset="-122"/>
                <a:ea typeface="Noto Sans SC" panose="020B0200000000000000" charset="-122"/>
              </a:rPr>
              <a:t> Execution Model</a:t>
            </a:r>
            <a:endParaRPr lang="en-US" altLang="zh-CN" sz="2000" b="1">
              <a:solidFill>
                <a:schemeClr val="tx1"/>
              </a:solidFill>
              <a:latin typeface="Noto Sans SC" panose="020B0200000000000000" charset="-122"/>
              <a:ea typeface="Noto Sans SC" panose="020B0200000000000000" charset="-122"/>
            </a:endParaRPr>
          </a:p>
          <a:p>
            <a:pPr>
              <a:lnSpc>
                <a:spcPct val="140000"/>
              </a:lnSpc>
            </a:pPr>
            <a:r>
              <a:rPr lang="en-US" altLang="zh-CN" sz="2000">
                <a:solidFill>
                  <a:schemeClr val="tx1"/>
                </a:solidFill>
                <a:latin typeface="Noto Sans SC" panose="020B0200000000000000" charset="-122"/>
                <a:ea typeface="Noto Sans SC" panose="020B0200000000000000" charset="-122"/>
              </a:rPr>
              <a:t> The long-only execution framework is simplified and does not account for market impact, execution latency, or partial fills.</a:t>
            </a:r>
            <a:endParaRPr lang="en-US" altLang="zh-CN" sz="2000">
              <a:solidFill>
                <a:schemeClr val="tx1"/>
              </a:solidFill>
              <a:latin typeface="Noto Sans SC" panose="020B0200000000000000" charset="-122"/>
              <a:ea typeface="Noto Sans SC" panose="020B0200000000000000" charset="-122"/>
            </a:endParaRPr>
          </a:p>
        </p:txBody>
      </p:sp>
      <p:cxnSp>
        <p:nvCxnSpPr>
          <p:cNvPr id="7" name="直接连接符 6"/>
          <p:cNvCxnSpPr/>
          <p:nvPr/>
        </p:nvCxnSpPr>
        <p:spPr>
          <a:xfrm>
            <a:off x="6171565" y="1413510"/>
            <a:ext cx="34290" cy="4419600"/>
          </a:xfrm>
          <a:prstGeom prst="line">
            <a:avLst/>
          </a:prstGeom>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6865620" y="1617980"/>
            <a:ext cx="4530090" cy="3741420"/>
          </a:xfrm>
          <a:prstGeom prst="rect">
            <a:avLst/>
          </a:prstGeom>
        </p:spPr>
        <p:txBody>
          <a:bodyPr wrap="square">
            <a:spAutoFit/>
          </a:bodyPr>
          <a:p>
            <a:pPr>
              <a:spcAft>
                <a:spcPct val="60000"/>
              </a:spcAft>
            </a:pPr>
            <a:r>
              <a:rPr lang="en-US" altLang="zh-CN" sz="2800" b="1">
                <a:solidFill>
                  <a:schemeClr val="bg1">
                    <a:lumMod val="50000"/>
                  </a:schemeClr>
                </a:solidFill>
                <a:latin typeface="Noto Sans SC Medium" panose="020B0200000000000000" charset="-122"/>
                <a:ea typeface="Noto Sans SC Medium" panose="020B0200000000000000" charset="-122"/>
              </a:rPr>
              <a:t>Future Directions</a:t>
            </a:r>
            <a:endParaRPr lang="en-US" altLang="zh-CN" sz="2800" b="1">
              <a:solidFill>
                <a:schemeClr val="bg1">
                  <a:lumMod val="50000"/>
                </a:schemeClr>
              </a:solidFill>
              <a:latin typeface="Noto Sans SC Medium" panose="020B0200000000000000" charset="-122"/>
              <a:ea typeface="Noto Sans SC Medium" panose="020B0200000000000000" charset="-122"/>
            </a:endParaRPr>
          </a:p>
          <a:p>
            <a:pPr algn="l">
              <a:lnSpc>
                <a:spcPct val="140000"/>
              </a:lnSpc>
              <a:buClrTx/>
              <a:buSzTx/>
              <a:buFont typeface="Arial" panose="020B0604020202020204"/>
              <a:buChar char="•"/>
            </a:pPr>
            <a:endParaRPr lang="en-US" altLang="zh-CN" sz="2000" b="1">
              <a:latin typeface="Noto Sans SC" panose="020B0200000000000000" charset="-122"/>
              <a:ea typeface="Noto Sans SC" panose="020B0200000000000000" charset="-122"/>
            </a:endParaRPr>
          </a:p>
          <a:p>
            <a:pPr algn="l">
              <a:lnSpc>
                <a:spcPct val="140000"/>
              </a:lnSpc>
              <a:buClrTx/>
              <a:buSzTx/>
              <a:buFont typeface="Arial" panose="020B0604020202020204"/>
              <a:buChar char="•"/>
            </a:pPr>
            <a:r>
              <a:rPr lang="en-US" altLang="zh-CN" sz="2000" b="1">
                <a:latin typeface="Noto Sans SC" panose="020B0200000000000000" charset="-122"/>
                <a:ea typeface="Noto Sans SC" panose="020B0200000000000000" charset="-122"/>
              </a:rPr>
              <a:t> Multi-Modal Inputs</a:t>
            </a:r>
            <a:endParaRPr lang="en-US" altLang="zh-CN" sz="2000" b="1">
              <a:latin typeface="Noto Sans SC" panose="020B0200000000000000" charset="-122"/>
              <a:ea typeface="Noto Sans SC" panose="020B0200000000000000" charset="-122"/>
            </a:endParaRPr>
          </a:p>
          <a:p>
            <a:pPr algn="l">
              <a:lnSpc>
                <a:spcPct val="140000"/>
              </a:lnSpc>
              <a:buClrTx/>
              <a:buSzTx/>
              <a:buFont typeface="Arial" panose="020B0604020202020204"/>
              <a:buChar char="•"/>
            </a:pPr>
            <a:endParaRPr lang="en-US" altLang="zh-CN" sz="2000" b="1">
              <a:latin typeface="Noto Sans SC" panose="020B0200000000000000" charset="-122"/>
              <a:ea typeface="Noto Sans SC" panose="020B0200000000000000" charset="-122"/>
            </a:endParaRPr>
          </a:p>
          <a:p>
            <a:pPr algn="l">
              <a:lnSpc>
                <a:spcPct val="140000"/>
              </a:lnSpc>
              <a:buClrTx/>
              <a:buSzTx/>
              <a:buFont typeface="Arial" panose="020B0604020202020204"/>
              <a:buChar char="•"/>
            </a:pPr>
            <a:r>
              <a:rPr lang="en-US" altLang="zh-CN" sz="2000" b="1">
                <a:latin typeface="Noto Sans SC" panose="020B0200000000000000" charset="-122"/>
                <a:ea typeface="Noto Sans SC" panose="020B0200000000000000" charset="-122"/>
              </a:rPr>
              <a:t> Portfolio Optimization</a:t>
            </a:r>
            <a:endParaRPr lang="en-US" altLang="zh-CN" sz="2000" b="1">
              <a:latin typeface="Noto Sans SC" panose="020B0200000000000000" charset="-122"/>
              <a:ea typeface="Noto Sans SC" panose="020B0200000000000000" charset="-122"/>
            </a:endParaRPr>
          </a:p>
          <a:p>
            <a:pPr algn="l">
              <a:lnSpc>
                <a:spcPct val="140000"/>
              </a:lnSpc>
              <a:buClrTx/>
              <a:buSzTx/>
              <a:buFont typeface="Arial" panose="020B0604020202020204"/>
              <a:buChar char="•"/>
            </a:pPr>
            <a:endParaRPr lang="en-US" altLang="zh-CN" sz="2000" b="1">
              <a:latin typeface="Noto Sans SC" panose="020B0200000000000000" charset="-122"/>
              <a:ea typeface="Noto Sans SC" panose="020B0200000000000000" charset="-122"/>
            </a:endParaRPr>
          </a:p>
          <a:p>
            <a:pPr algn="l">
              <a:lnSpc>
                <a:spcPct val="140000"/>
              </a:lnSpc>
              <a:buClrTx/>
              <a:buSzTx/>
              <a:buFont typeface="Arial" panose="020B0604020202020204"/>
              <a:buChar char="•"/>
            </a:pPr>
            <a:r>
              <a:rPr lang="en-US" altLang="zh-CN" sz="2000" b="1">
                <a:latin typeface="Noto Sans SC" panose="020B0200000000000000" charset="-122"/>
                <a:ea typeface="Noto Sans SC" panose="020B0200000000000000" charset="-122"/>
              </a:rPr>
              <a:t> Adaptive Execution</a:t>
            </a:r>
            <a:endParaRPr lang="en-US" altLang="zh-CN" sz="2000" b="1">
              <a:latin typeface="Noto Sans SC" panose="020B0200000000000000" charset="-122"/>
              <a:ea typeface="Noto Sans SC" panose="020B0200000000000000" charset="-122"/>
            </a:endParaRPr>
          </a:p>
          <a:p>
            <a:endParaRPr lang="en-US" altLang="zh-CN"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alphaModFix amt="40000"/>
          </a:blip>
          <a:stretch>
            <a:fillRect/>
          </a:stretch>
        </a:blipFill>
        <a:effectLst/>
      </p:bgPr>
    </p:bg>
    <p:spTree>
      <p:nvGrpSpPr>
        <p:cNvPr id="1" name=""/>
        <p:cNvGrpSpPr/>
        <p:nvPr/>
      </p:nvGrpSpPr>
      <p:grpSpPr/>
      <p:sp>
        <p:nvSpPr>
          <p:cNvPr id="7" name="文本框 6"/>
          <p:cNvSpPr txBox="1"/>
          <p:nvPr/>
        </p:nvSpPr>
        <p:spPr>
          <a:xfrm>
            <a:off x="2121535" y="2967990"/>
            <a:ext cx="7727315" cy="922020"/>
          </a:xfrm>
          <a:prstGeom prst="rect">
            <a:avLst/>
          </a:prstGeom>
          <a:noFill/>
        </p:spPr>
        <p:txBody>
          <a:bodyPr wrap="square" rtlCol="0">
            <a:spAutoFit/>
          </a:bodyPr>
          <a:p>
            <a:pPr indent="457200"/>
            <a:r>
              <a:rPr lang="en-US" altLang="zh-CN" sz="5400" b="1">
                <a:gradFill>
                  <a:gsLst>
                    <a:gs pos="0">
                      <a:srgbClr val="9996EF"/>
                    </a:gs>
                    <a:gs pos="100000">
                      <a:srgbClr val="38FAD7"/>
                    </a:gs>
                  </a:gsLst>
                  <a:lin ang="17400000" scaled="0"/>
                </a:gradFill>
                <a:latin typeface="Noto Sans SC" panose="020B0200000000000000" charset="-122"/>
                <a:ea typeface="Noto Sans SC" panose="020B0200000000000000" charset="-122"/>
              </a:rPr>
              <a:t>ACKNOWLEDGEMENT</a:t>
            </a:r>
            <a:endParaRPr lang="en-US" altLang="zh-CN" sz="5400" b="1">
              <a:gradFill>
                <a:gsLst>
                  <a:gs pos="0">
                    <a:srgbClr val="9996EF"/>
                  </a:gs>
                  <a:gs pos="100000">
                    <a:srgbClr val="38FAD7"/>
                  </a:gs>
                </a:gsLst>
                <a:lin ang="17400000" scaled="0"/>
              </a:gradFill>
              <a:latin typeface="Noto Sans SC" panose="020B0200000000000000" charset="-122"/>
              <a:ea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screen"/>
          <a:stretch>
            <a:fillRect/>
          </a:stretch>
        </p:blipFill>
        <p:spPr>
          <a:xfrm>
            <a:off x="-1" y="0"/>
            <a:ext cx="12191999" cy="6858000"/>
          </a:xfrm>
          <a:prstGeom prst="rect">
            <a:avLst/>
          </a:prstGeom>
        </p:spPr>
      </p:pic>
      <p:sp>
        <p:nvSpPr>
          <p:cNvPr id="3" name="矩形 2"/>
          <p:cNvSpPr/>
          <p:nvPr/>
        </p:nvSpPr>
        <p:spPr>
          <a:xfrm>
            <a:off x="0" y="0"/>
            <a:ext cx="12192000" cy="6858000"/>
          </a:xfrm>
          <a:prstGeom prst="rect">
            <a:avLst/>
          </a:prstGeom>
          <a:solidFill>
            <a:schemeClr val="tx1">
              <a:alpha val="1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4000" dirty="0"/>
          </a:p>
        </p:txBody>
      </p:sp>
      <p:sp>
        <p:nvSpPr>
          <p:cNvPr id="7" name="标题 1"/>
          <p:cNvSpPr txBox="1"/>
          <p:nvPr/>
        </p:nvSpPr>
        <p:spPr>
          <a:xfrm>
            <a:off x="1523998" y="3063537"/>
            <a:ext cx="9144000" cy="290051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kumimoji="1" lang="en-US" altLang="zh-CN" sz="5400" b="1" dirty="0">
                <a:solidFill>
                  <a:srgbClr val="DCB386"/>
                </a:solidFill>
                <a:latin typeface="Arial" panose="020B0604020202020204" pitchFamily="34" charset="0"/>
                <a:cs typeface="Arial" panose="020B0604020202020204" pitchFamily="34" charset="0"/>
              </a:rPr>
              <a:t>Thank you</a:t>
            </a:r>
            <a:endParaRPr kumimoji="1" lang="zh-CN" altLang="en-US" sz="5400" b="1" dirty="0">
              <a:solidFill>
                <a:srgbClr val="DCB386"/>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p="http://schemas.openxmlformats.org/presentationml/2006/main">
  <p:tag name="KSO_WM_DIAGRAM_VIRTUALLY_FRAME" val="{&quot;height&quot;:114.2,&quot;left&quot;:33,&quot;top&quot;:397.95,&quot;width&quot;:919.75}"/>
</p:tagLst>
</file>

<file path=ppt/tags/tag2.xml><?xml version="1.0" encoding="utf-8"?>
<p:tagLst xmlns:p="http://schemas.openxmlformats.org/presentationml/2006/main">
  <p:tag name="KSO_WM_DIAGRAM_VIRTUALLY_FRAME" val="{&quot;height&quot;:114.2,&quot;left&quot;:33,&quot;top&quot;:397.95,&quot;width&quot;:919.75}"/>
</p:tagLst>
</file>

<file path=ppt/tags/tag3.xml><?xml version="1.0" encoding="utf-8"?>
<p:tagLst xmlns:p="http://schemas.openxmlformats.org/presentationml/2006/main">
  <p:tag name="KSO_WM_DIAGRAM_VIRTUALLY_FRAME" val="{&quot;height&quot;:114.2,&quot;left&quot;:33,&quot;top&quot;:397.95,&quot;width&quot;:919.75}"/>
</p:tagLst>
</file>

<file path=ppt/tags/tag4.xml><?xml version="1.0" encoding="utf-8"?>
<p:tagLst xmlns:p="http://schemas.openxmlformats.org/presentationml/2006/main">
  <p:tag name="KSO_WM_DIAGRAM_VIRTUALLY_FRAME" val="{&quot;height&quot;:114.2,&quot;left&quot;:33,&quot;top&quot;:397.95,&quot;width&quot;:919.75}"/>
</p:tagLst>
</file>

<file path=ppt/tags/tag5.xml><?xml version="1.0" encoding="utf-8"?>
<p:tagLst xmlns:p="http://schemas.openxmlformats.org/presentationml/2006/main">
  <p:tag name="KSO_WM_DIAGRAM_VIRTUALLY_FRAME" val="{&quot;height&quot;:114.2,&quot;left&quot;:33,&quot;top&quot;:397.95,&quot;width&quot;:919.75}"/>
</p:tagLst>
</file>

<file path=ppt/tags/tag6.xml><?xml version="1.0" encoding="utf-8"?>
<p:tagLst xmlns:p="http://schemas.openxmlformats.org/presentationml/2006/main">
  <p:tag name="KSO_WM_DIAGRAM_VIRTUALLY_FRAME" val="{&quot;height&quot;:114.2,&quot;left&quot;:33,&quot;top&quot;:397.95,&quot;width&quot;:919.75}"/>
</p:tagLst>
</file>

<file path=ppt/tags/tag7.xml><?xml version="1.0" encoding="utf-8"?>
<p:tagLst xmlns:p="http://schemas.openxmlformats.org/presentationml/2006/main">
  <p:tag name="KSO_WM_DIAGRAM_VIRTUALLY_FRAME" val="{&quot;height&quot;:155.8,&quot;left&quot;:60.85,&quot;top&quot;:278.35,&quot;width&quot;:330.95}"/>
</p:tagLst>
</file>

<file path=ppt/tags/tag8.xml><?xml version="1.0" encoding="utf-8"?>
<p:tagLst xmlns:p="http://schemas.openxmlformats.org/presentationml/2006/main">
  <p:tag name="KSO_WM_DIAGRAM_VIRTUALLY_FRAME" val="{&quot;height&quot;:155.8,&quot;left&quot;:60.85,&quot;top&quot;:278.35,&quot;width&quot;:330.95}"/>
</p:tagLst>
</file>

<file path=ppt/tags/tag9.xml><?xml version="1.0" encoding="utf-8"?>
<p:tagLst xmlns:p="http://schemas.openxmlformats.org/presentationml/2006/main">
  <p:tag name="KSO_WM_DIAGRAM_VIRTUALLY_FRAME" val="{&quot;height&quot;:155.8,&quot;left&quot;:60.85,&quot;top&quot;:278.35,&quot;width&quot;:330.95}"/>
</p:tagLst>
</file>

<file path=ppt/tags/tag10.xml><?xml version="1.0" encoding="utf-8"?>
<p:tagLst xmlns:p="http://schemas.openxmlformats.org/presentationml/2006/main">
  <p:tag name="KSO_WM_DIAGRAM_VIRTUALLY_FRAME" val="{&quot;height&quot;:155.8,&quot;left&quot;:60.85,&quot;top&quot;:278.35,&quot;width&quot;:330.95}"/>
</p:tagLst>
</file>

<file path=ppt/tags/tag11.xml><?xml version="1.0" encoding="utf-8"?>
<p:tagLst xmlns:p="http://schemas.openxmlformats.org/presentationml/2006/main">
  <p:tag name="KSO_WM_DIAGRAM_VIRTUALLY_FRAME" val="{&quot;height&quot;:128.7,&quot;left&quot;:94.1,&quot;top&quot;:94.45,&quot;width&quot;:737}"/>
</p:tagLst>
</file>

<file path=ppt/tags/tag12.xml><?xml version="1.0" encoding="utf-8"?>
<p:tagLst xmlns:p="http://schemas.openxmlformats.org/presentationml/2006/main">
  <p:tag name="KSO_WM_DIAGRAM_VIRTUALLY_FRAME" val="{&quot;height&quot;:128.7,&quot;left&quot;:94.1,&quot;top&quot;:94.45,&quot;width&quot;:737}"/>
</p:tagLst>
</file>

<file path=ppt/tags/tag13.xml><?xml version="1.0" encoding="utf-8"?>
<p:tagLst xmlns:p="http://schemas.openxmlformats.org/presentationml/2006/main">
  <p:tag name="KSO_WM_DIAGRAM_VIRTUALLY_FRAME" val="{&quot;height&quot;:128.7,&quot;left&quot;:94.1,&quot;top&quot;:94.45,&quot;width&quot;:737}"/>
</p:tagLst>
</file>

<file path=ppt/tags/tag14.xml><?xml version="1.0" encoding="utf-8"?>
<p:tagLst xmlns:p="http://schemas.openxmlformats.org/presentationml/2006/main">
  <p:tag name="KSO_WM_DIAGRAM_VIRTUALLY_FRAME" val="{&quot;height&quot;:128.7,&quot;left&quot;:94.1,&quot;top&quot;:94.45,&quot;width&quot;:737}"/>
</p:tagLst>
</file>

<file path=ppt/tags/tag15.xml><?xml version="1.0" encoding="utf-8"?>
<p:tagLst xmlns:p="http://schemas.openxmlformats.org/presentationml/2006/main">
  <p:tag name="KSO_WM_DIAGRAM_VIRTUALLY_FRAME" val="{&quot;height&quot;:128.7,&quot;left&quot;:94.1,&quot;top&quot;:94.45,&quot;width&quot;:737}"/>
</p:tagLst>
</file>

<file path=ppt/tags/tag16.xml><?xml version="1.0" encoding="utf-8"?>
<p:tagLst xmlns:p="http://schemas.openxmlformats.org/presentationml/2006/main">
  <p:tag name="KSO_WM_DIAGRAM_VIRTUALLY_FRAME" val="{&quot;height&quot;:128.7,&quot;left&quot;:94.1,&quot;top&quot;:94.45,&quot;width&quot;:737}"/>
</p:tagLst>
</file>

<file path=ppt/tags/tag17.xml><?xml version="1.0" encoding="utf-8"?>
<p:tagLst xmlns:p="http://schemas.openxmlformats.org/presentationml/2006/main">
  <p:tag name="KSO_WM_DIAGRAM_VIRTUALLY_FRAME" val="{&quot;height&quot;:94,&quot;left&quot;:124.1,&quot;top&quot;:94.45,&quot;width&quot;:707}"/>
</p:tagLst>
</file>

<file path=ppt/tags/tag18.xml><?xml version="1.0" encoding="utf-8"?>
<p:tagLst xmlns:p="http://schemas.openxmlformats.org/presentationml/2006/main">
  <p:tag name="KSO_WM_DIAGRAM_VIRTUALLY_FRAME" val="{&quot;height&quot;:317.4,&quot;left&quot;:65.25,&quot;top&quot;:117.3,&quot;width&quot;:900.15}"/>
</p:tagLst>
</file>

<file path=ppt/tags/tag19.xml><?xml version="1.0" encoding="utf-8"?>
<p:tagLst xmlns:p="http://schemas.openxmlformats.org/presentationml/2006/main">
  <p:tag name="KSO_WM_DIAGRAM_VIRTUALLY_FRAME" val="{&quot;height&quot;:317.4,&quot;left&quot;:65.25,&quot;top&quot;:117.3,&quot;width&quot;:900.15}"/>
</p:tagLst>
</file>

<file path=ppt/tags/tag20.xml><?xml version="1.0" encoding="utf-8"?>
<p:tagLst xmlns:p="http://schemas.openxmlformats.org/presentationml/2006/main">
  <p:tag name="KSO_WM_DIAGRAM_VIRTUALLY_FRAME" val="{&quot;height&quot;:317.4,&quot;left&quot;:65.25,&quot;top&quot;:117.3,&quot;width&quot;:900.15}"/>
</p:tagLst>
</file>

<file path=ppt/tags/tag21.xml><?xml version="1.0" encoding="utf-8"?>
<p:tagLst xmlns:p="http://schemas.openxmlformats.org/presentationml/2006/main">
  <p:tag name="KSO_WM_DIAGRAM_VIRTUALLY_FRAME" val="{&quot;height&quot;:317.4,&quot;left&quot;:65.25,&quot;top&quot;:117.3,&quot;width&quot;:900.15}"/>
</p:tagLst>
</file>

<file path=ppt/tags/tag22.xml><?xml version="1.0" encoding="utf-8"?>
<p:tagLst xmlns:p="http://schemas.openxmlformats.org/presentationml/2006/main">
  <p:tag name="KSO_WM_DIAGRAM_VIRTUALLY_FRAME" val="{&quot;height&quot;:317.4,&quot;left&quot;:65.25,&quot;top&quot;:117.3,&quot;width&quot;:900.15}"/>
</p:tagLst>
</file>

<file path=ppt/tags/tag23.xml><?xml version="1.0" encoding="utf-8"?>
<p:tagLst xmlns:p="http://schemas.openxmlformats.org/presentationml/2006/main">
  <p:tag name="KSO_WM_DIAGRAM_VIRTUALLY_FRAME" val="{&quot;height&quot;:317.4,&quot;left&quot;:65.25,&quot;top&quot;:117.3,&quot;width&quot;:900.15}"/>
</p:tagLst>
</file>

<file path=ppt/tags/tag24.xml><?xml version="1.0" encoding="utf-8"?>
<p:tagLst xmlns:p="http://schemas.openxmlformats.org/presentationml/2006/main">
  <p:tag name="KSO_WM_DIAGRAM_VIRTUALLY_FRAME" val="{&quot;height&quot;:317.4,&quot;left&quot;:65.25,&quot;top&quot;:117.3,&quot;width&quot;:900.15}"/>
</p:tagLst>
</file>

<file path=ppt/tags/tag25.xml><?xml version="1.0" encoding="utf-8"?>
<p:tagLst xmlns:p="http://schemas.openxmlformats.org/presentationml/2006/main">
  <p:tag name="KSO_WM_DIAGRAM_VIRTUALLY_FRAME" val="{&quot;height&quot;:317.4,&quot;left&quot;:65.25,&quot;top&quot;:117.3,&quot;width&quot;:900.15}"/>
</p:tagLst>
</file>

<file path=ppt/tags/tag26.xml><?xml version="1.0" encoding="utf-8"?>
<p:tagLst xmlns:p="http://schemas.openxmlformats.org/presentationml/2006/main">
  <p:tag name="resource_record_key" val="{&quot;10&quot;:[4523431,5624611,21559449,50026891,4525710,21566721,20277447,21601234,50032191,50046128],&quot;29&quot;:[50049425,5000004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3954</Words>
  <Application>WPS 演示</Application>
  <PresentationFormat>宽屏</PresentationFormat>
  <Paragraphs>159</Paragraphs>
  <Slides>14</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Arial</vt:lpstr>
      <vt:lpstr>宋体</vt:lpstr>
      <vt:lpstr>Wingdings</vt:lpstr>
      <vt:lpstr>Noto Sans SC</vt:lpstr>
      <vt:lpstr>Arial</vt:lpstr>
      <vt:lpstr>Noto Sans SC Black</vt:lpstr>
      <vt:lpstr>Times New Roman</vt:lpstr>
      <vt:lpstr>Noto Sans SC Medium</vt:lpstr>
      <vt:lpstr>Noto Sans SC DemiLight</vt:lpstr>
      <vt:lpstr>Noto Sans SC Light</vt:lpstr>
      <vt:lpstr>Berlin Sans FB</vt:lpstr>
      <vt:lpstr>微软雅黑</vt:lpstr>
      <vt:lpstr>Arial Unicode MS</vt:lpstr>
      <vt:lpstr>等线 Light</vt:lpstr>
      <vt:lpstr>等线</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xingfu</dc:creator>
  <cp:lastModifiedBy>有心·不负时光</cp:lastModifiedBy>
  <cp:revision>61</cp:revision>
  <dcterms:created xsi:type="dcterms:W3CDTF">2023-06-25T06:42:00Z</dcterms:created>
  <dcterms:modified xsi:type="dcterms:W3CDTF">2025-12-14T06:51:55Z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2023-06-25T06:42:56Z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02705526-d56d-4444-bbf8-57f845dfe708</vt:lpwstr>
  </property>
  <property fmtid="{D5CDD505-2E9C-101B-9397-08002B2CF9AE}" pid="7" name="MSIP_Label_defa4170-0d19-0005-0004-bc88714345d2_ActionId">
    <vt:lpwstr>c8a0b333-3db4-4f34-82bb-8cc498e804c1</vt:lpwstr>
  </property>
  <property fmtid="{D5CDD505-2E9C-101B-9397-08002B2CF9AE}" pid="8" name="MSIP_Label_defa4170-0d19-0005-0004-bc88714345d2_ContentBits">
    <vt:lpwstr>0</vt:lpwstr>
  </property>
  <property fmtid="{D5CDD505-2E9C-101B-9397-08002B2CF9AE}" pid="9" name="ICV">
    <vt:lpwstr>0D7C7CA12BB84FC6BDA2DEB88889A401_13</vt:lpwstr>
  </property>
  <property fmtid="{D5CDD505-2E9C-101B-9397-08002B2CF9AE}" pid="10" name="KSOProductBuildVer">
    <vt:lpwstr>2052-12.1.0.24034</vt:lpwstr>
  </property>
</Properties>
</file>